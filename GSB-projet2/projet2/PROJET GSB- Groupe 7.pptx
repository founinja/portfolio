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66" r:id="rId3"/>
    <p:sldId id="345" r:id="rId4"/>
    <p:sldId id="337" r:id="rId5"/>
    <p:sldId id="335" r:id="rId6"/>
    <p:sldId id="336" r:id="rId7"/>
    <p:sldId id="346" r:id="rId8"/>
    <p:sldId id="330" r:id="rId9"/>
    <p:sldId id="338" r:id="rId10"/>
    <p:sldId id="328" r:id="rId11"/>
    <p:sldId id="339" r:id="rId12"/>
    <p:sldId id="340" r:id="rId13"/>
    <p:sldId id="331" r:id="rId14"/>
    <p:sldId id="341" r:id="rId15"/>
    <p:sldId id="329" r:id="rId16"/>
    <p:sldId id="342" r:id="rId17"/>
    <p:sldId id="343" r:id="rId18"/>
    <p:sldId id="344" r:id="rId19"/>
    <p:sldId id="265" r:id="rId20"/>
  </p:sldIdLst>
  <p:sldSz cx="18288000" cy="10287000"/>
  <p:notesSz cx="6858000" cy="9144000"/>
  <p:embeddedFontLst>
    <p:embeddedFont>
      <p:font typeface="Cooper Hewitt Bold" panose="020B0604020202020204" charset="0"/>
      <p:regular r:id="rId22"/>
    </p:embeddedFont>
    <p:embeddedFont>
      <p:font typeface="DM Sans" pitchFamily="2" charset="0"/>
      <p:regular r:id="rId23"/>
      <p:bold r:id="rId24"/>
      <p:italic r:id="rId25"/>
      <p:boldItalic r:id="rId26"/>
    </p:embeddedFont>
    <p:embeddedFont>
      <p:font typeface="DM Sans Bold" pitchFamily="2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342990-BB8F-24DD-E376-1B226B92C4D8}" v="16" dt="2025-04-14T10:40:02.379"/>
    <p1510:client id="{3E4378B5-566C-20C7-C022-855946EAA6CD}" v="23" dt="2025-04-14T15:31:18.347"/>
    <p1510:client id="{40D1EBCF-28A8-4BFC-BC34-44954689BBD8}" v="4" dt="2025-04-14T09:03:07.987"/>
    <p1510:client id="{6258D1CD-EBAE-E384-4E71-6B1942A1741A}" v="71" dt="2025-04-13T14:41:56.132"/>
    <p1510:client id="{B7D05691-C4F7-1A61-07AF-67EF0B3FD32E}" v="98" dt="2025-04-14T19:37:11.348"/>
    <p1510:client id="{C0FF6D01-ADEA-4C47-2C31-C3B8EE4FDD21}" v="77" dt="2025-04-15T07:01:48.105"/>
    <p1510:client id="{CC45819D-0333-1E50-A552-4C02B956093F}" v="1" dt="2025-04-14T19:27:23.861"/>
    <p1510:client id="{D682FD6D-63DF-1A0B-D627-B9C27FC5AF72}" v="482" dt="2025-04-14T22:10:08.715"/>
    <p1510:client id="{E7E7AE1D-123B-BB4F-C854-C305EDB35E7F}" v="76" dt="2025-04-14T21:10:10.715"/>
    <p1510:client id="{F99BC060-B04E-71B8-8B91-2402E32CFF23}" v="3" dt="2025-04-14T19:14:04.3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FDADE-856F-45F4-BDBF-7C4DDDF4E5CD}" type="datetimeFigureOut">
              <a:rPr lang="fr-FR" smtClean="0"/>
              <a:t>14/04/2025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691C4-AAC0-438D-B32A-590C0FDDB9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8173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2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2.svg"/><Relationship Id="rId3" Type="http://schemas.openxmlformats.org/officeDocument/2006/relationships/image" Target="../media/image26.svg"/><Relationship Id="rId7" Type="http://schemas.openxmlformats.org/officeDocument/2006/relationships/image" Target="../media/image28.svg"/><Relationship Id="rId12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30.svg"/><Relationship Id="rId5" Type="http://schemas.openxmlformats.org/officeDocument/2006/relationships/image" Target="../media/image27.svg"/><Relationship Id="rId10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8424" y="-5208073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/>
          <p:cNvSpPr/>
          <p:nvPr/>
        </p:nvSpPr>
        <p:spPr>
          <a:xfrm>
            <a:off x="1000646" y="493486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Freeform 4"/>
          <p:cNvSpPr/>
          <p:nvPr/>
        </p:nvSpPr>
        <p:spPr>
          <a:xfrm>
            <a:off x="11093019" y="1347109"/>
            <a:ext cx="4417745" cy="5091972"/>
          </a:xfrm>
          <a:custGeom>
            <a:avLst/>
            <a:gdLst/>
            <a:ahLst/>
            <a:cxnLst/>
            <a:rect l="l" t="t" r="r" b="b"/>
            <a:pathLst>
              <a:path w="3701593" h="4723610">
                <a:moveTo>
                  <a:pt x="0" y="0"/>
                </a:moveTo>
                <a:lnTo>
                  <a:pt x="3701593" y="0"/>
                </a:lnTo>
                <a:lnTo>
                  <a:pt x="3701593" y="4723610"/>
                </a:lnTo>
                <a:lnTo>
                  <a:pt x="0" y="4723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5" name="Freeform 5"/>
          <p:cNvSpPr/>
          <p:nvPr/>
        </p:nvSpPr>
        <p:spPr>
          <a:xfrm>
            <a:off x="9601200" y="5379800"/>
            <a:ext cx="4417744" cy="2581232"/>
          </a:xfrm>
          <a:custGeom>
            <a:avLst/>
            <a:gdLst/>
            <a:ahLst/>
            <a:cxnLst/>
            <a:rect l="l" t="t" r="r" b="b"/>
            <a:pathLst>
              <a:path w="3718302" h="2393234">
                <a:moveTo>
                  <a:pt x="0" y="0"/>
                </a:moveTo>
                <a:lnTo>
                  <a:pt x="3718301" y="0"/>
                </a:lnTo>
                <a:lnTo>
                  <a:pt x="3718301" y="2393234"/>
                </a:lnTo>
                <a:lnTo>
                  <a:pt x="0" y="23932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6" name="Freeform 6"/>
          <p:cNvSpPr/>
          <p:nvPr/>
        </p:nvSpPr>
        <p:spPr>
          <a:xfrm>
            <a:off x="15240802" y="3409700"/>
            <a:ext cx="2882196" cy="3943304"/>
          </a:xfrm>
          <a:custGeom>
            <a:avLst/>
            <a:gdLst/>
            <a:ahLst/>
            <a:cxnLst/>
            <a:rect l="l" t="t" r="r" b="b"/>
            <a:pathLst>
              <a:path w="2882196" h="3943304">
                <a:moveTo>
                  <a:pt x="0" y="0"/>
                </a:moveTo>
                <a:lnTo>
                  <a:pt x="2882196" y="0"/>
                </a:lnTo>
                <a:lnTo>
                  <a:pt x="2882196" y="3943304"/>
                </a:lnTo>
                <a:lnTo>
                  <a:pt x="0" y="39433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7" name="TextBox 7"/>
          <p:cNvSpPr txBox="1"/>
          <p:nvPr/>
        </p:nvSpPr>
        <p:spPr>
          <a:xfrm>
            <a:off x="809968" y="1215094"/>
            <a:ext cx="10287000" cy="8505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18"/>
              </a:lnSpc>
            </a:pPr>
            <a:r>
              <a:rPr lang="fr-FR" sz="9600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Hewitt Bold" panose="020B0604020202020204" charset="0"/>
                <a:ea typeface="Cooper Hewitt Bold" panose="020B0604020202020204" charset="0"/>
              </a:rPr>
              <a:t>Projet informatique pour</a:t>
            </a:r>
          </a:p>
          <a:p>
            <a:pPr algn="l">
              <a:lnSpc>
                <a:spcPts val="16818"/>
              </a:lnSpc>
            </a:pPr>
            <a:r>
              <a:rPr lang="fr-FR" sz="9600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Hewitt Bold" panose="020B0604020202020204" charset="0"/>
                <a:ea typeface="Cooper Hewitt Bold" panose="020B0604020202020204" charset="0"/>
              </a:rPr>
              <a:t>GSB </a:t>
            </a:r>
          </a:p>
          <a:p>
            <a:pPr algn="l">
              <a:lnSpc>
                <a:spcPts val="16818"/>
              </a:lnSpc>
            </a:pPr>
            <a:endParaRPr lang="fr-FR" sz="12013" b="1" noProof="0">
              <a:solidFill>
                <a:srgbClr val="343434"/>
              </a:solidFill>
              <a:latin typeface="Cooper Hewitt Bold" panose="020B0604020202020204" charset="0"/>
              <a:ea typeface="Cooper Hewitt Bold" panose="020B0604020202020204" charset="0"/>
              <a:cs typeface="Cooper Hewitt Bold"/>
              <a:sym typeface="Cooper Hewitt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88196" y="567060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253563" y="8991600"/>
            <a:ext cx="100573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0F70D49-57DA-8773-76D2-D8D98FED320D}"/>
              </a:ext>
            </a:extLst>
          </p:cNvPr>
          <p:cNvSpPr txBox="1"/>
          <p:nvPr/>
        </p:nvSpPr>
        <p:spPr>
          <a:xfrm>
            <a:off x="3214077" y="7473463"/>
            <a:ext cx="6389076" cy="1815882"/>
          </a:xfrm>
          <a:custGeom>
            <a:avLst/>
            <a:gdLst>
              <a:gd name="connsiteX0" fmla="*/ 0 w 6389076"/>
              <a:gd name="connsiteY0" fmla="*/ 0 h 1815882"/>
              <a:gd name="connsiteX1" fmla="*/ 644716 w 6389076"/>
              <a:gd name="connsiteY1" fmla="*/ 0 h 1815882"/>
              <a:gd name="connsiteX2" fmla="*/ 1033869 w 6389076"/>
              <a:gd name="connsiteY2" fmla="*/ 0 h 1815882"/>
              <a:gd name="connsiteX3" fmla="*/ 1742475 w 6389076"/>
              <a:gd name="connsiteY3" fmla="*/ 0 h 1815882"/>
              <a:gd name="connsiteX4" fmla="*/ 2195519 w 6389076"/>
              <a:gd name="connsiteY4" fmla="*/ 0 h 1815882"/>
              <a:gd name="connsiteX5" fmla="*/ 2584672 w 6389076"/>
              <a:gd name="connsiteY5" fmla="*/ 0 h 1815882"/>
              <a:gd name="connsiteX6" fmla="*/ 3037715 w 6389076"/>
              <a:gd name="connsiteY6" fmla="*/ 0 h 1815882"/>
              <a:gd name="connsiteX7" fmla="*/ 3554650 w 6389076"/>
              <a:gd name="connsiteY7" fmla="*/ 0 h 1815882"/>
              <a:gd name="connsiteX8" fmla="*/ 4199365 w 6389076"/>
              <a:gd name="connsiteY8" fmla="*/ 0 h 1815882"/>
              <a:gd name="connsiteX9" fmla="*/ 4652409 w 6389076"/>
              <a:gd name="connsiteY9" fmla="*/ 0 h 1815882"/>
              <a:gd name="connsiteX10" fmla="*/ 5169343 w 6389076"/>
              <a:gd name="connsiteY10" fmla="*/ 0 h 1815882"/>
              <a:gd name="connsiteX11" fmla="*/ 5750168 w 6389076"/>
              <a:gd name="connsiteY11" fmla="*/ 0 h 1815882"/>
              <a:gd name="connsiteX12" fmla="*/ 6389076 w 6389076"/>
              <a:gd name="connsiteY12" fmla="*/ 0 h 1815882"/>
              <a:gd name="connsiteX13" fmla="*/ 6389076 w 6389076"/>
              <a:gd name="connsiteY13" fmla="*/ 417653 h 1815882"/>
              <a:gd name="connsiteX14" fmla="*/ 6389076 w 6389076"/>
              <a:gd name="connsiteY14" fmla="*/ 907941 h 1815882"/>
              <a:gd name="connsiteX15" fmla="*/ 6389076 w 6389076"/>
              <a:gd name="connsiteY15" fmla="*/ 1325594 h 1815882"/>
              <a:gd name="connsiteX16" fmla="*/ 6389076 w 6389076"/>
              <a:gd name="connsiteY16" fmla="*/ 1815882 h 1815882"/>
              <a:gd name="connsiteX17" fmla="*/ 5808251 w 6389076"/>
              <a:gd name="connsiteY17" fmla="*/ 1815882 h 1815882"/>
              <a:gd name="connsiteX18" fmla="*/ 5163535 w 6389076"/>
              <a:gd name="connsiteY18" fmla="*/ 1815882 h 1815882"/>
              <a:gd name="connsiteX19" fmla="*/ 4582710 w 6389076"/>
              <a:gd name="connsiteY19" fmla="*/ 1815882 h 1815882"/>
              <a:gd name="connsiteX20" fmla="*/ 4129666 w 6389076"/>
              <a:gd name="connsiteY20" fmla="*/ 1815882 h 1815882"/>
              <a:gd name="connsiteX21" fmla="*/ 3484951 w 6389076"/>
              <a:gd name="connsiteY21" fmla="*/ 1815882 h 1815882"/>
              <a:gd name="connsiteX22" fmla="*/ 2968016 w 6389076"/>
              <a:gd name="connsiteY22" fmla="*/ 1815882 h 1815882"/>
              <a:gd name="connsiteX23" fmla="*/ 2259410 w 6389076"/>
              <a:gd name="connsiteY23" fmla="*/ 1815882 h 1815882"/>
              <a:gd name="connsiteX24" fmla="*/ 1614694 w 6389076"/>
              <a:gd name="connsiteY24" fmla="*/ 1815882 h 1815882"/>
              <a:gd name="connsiteX25" fmla="*/ 1097759 w 6389076"/>
              <a:gd name="connsiteY25" fmla="*/ 1815882 h 1815882"/>
              <a:gd name="connsiteX26" fmla="*/ 516934 w 6389076"/>
              <a:gd name="connsiteY26" fmla="*/ 1815882 h 1815882"/>
              <a:gd name="connsiteX27" fmla="*/ 0 w 6389076"/>
              <a:gd name="connsiteY27" fmla="*/ 1815882 h 1815882"/>
              <a:gd name="connsiteX28" fmla="*/ 0 w 6389076"/>
              <a:gd name="connsiteY28" fmla="*/ 1398229 h 1815882"/>
              <a:gd name="connsiteX29" fmla="*/ 0 w 6389076"/>
              <a:gd name="connsiteY29" fmla="*/ 962417 h 1815882"/>
              <a:gd name="connsiteX30" fmla="*/ 0 w 6389076"/>
              <a:gd name="connsiteY30" fmla="*/ 508447 h 1815882"/>
              <a:gd name="connsiteX31" fmla="*/ 0 w 6389076"/>
              <a:gd name="connsiteY31" fmla="*/ 0 h 181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389076" h="1815882" fill="none" extrusionOk="0">
                <a:moveTo>
                  <a:pt x="0" y="0"/>
                </a:moveTo>
                <a:cubicBezTo>
                  <a:pt x="224158" y="-49503"/>
                  <a:pt x="422198" y="19935"/>
                  <a:pt x="644716" y="0"/>
                </a:cubicBezTo>
                <a:cubicBezTo>
                  <a:pt x="867234" y="-19935"/>
                  <a:pt x="842530" y="41082"/>
                  <a:pt x="1033869" y="0"/>
                </a:cubicBezTo>
                <a:cubicBezTo>
                  <a:pt x="1225208" y="-41082"/>
                  <a:pt x="1439739" y="54287"/>
                  <a:pt x="1742475" y="0"/>
                </a:cubicBezTo>
                <a:cubicBezTo>
                  <a:pt x="2045211" y="-54287"/>
                  <a:pt x="2036376" y="45606"/>
                  <a:pt x="2195519" y="0"/>
                </a:cubicBezTo>
                <a:cubicBezTo>
                  <a:pt x="2354662" y="-45606"/>
                  <a:pt x="2414503" y="6771"/>
                  <a:pt x="2584672" y="0"/>
                </a:cubicBezTo>
                <a:cubicBezTo>
                  <a:pt x="2754841" y="-6771"/>
                  <a:pt x="2820046" y="5149"/>
                  <a:pt x="3037715" y="0"/>
                </a:cubicBezTo>
                <a:cubicBezTo>
                  <a:pt x="3255384" y="-5149"/>
                  <a:pt x="3324426" y="44357"/>
                  <a:pt x="3554650" y="0"/>
                </a:cubicBezTo>
                <a:cubicBezTo>
                  <a:pt x="3784875" y="-44357"/>
                  <a:pt x="3882994" y="417"/>
                  <a:pt x="4199365" y="0"/>
                </a:cubicBezTo>
                <a:cubicBezTo>
                  <a:pt x="4515736" y="-417"/>
                  <a:pt x="4446927" y="22877"/>
                  <a:pt x="4652409" y="0"/>
                </a:cubicBezTo>
                <a:cubicBezTo>
                  <a:pt x="4857891" y="-22877"/>
                  <a:pt x="4936770" y="25387"/>
                  <a:pt x="5169343" y="0"/>
                </a:cubicBezTo>
                <a:cubicBezTo>
                  <a:pt x="5401916" y="-25387"/>
                  <a:pt x="5529789" y="11343"/>
                  <a:pt x="5750168" y="0"/>
                </a:cubicBezTo>
                <a:cubicBezTo>
                  <a:pt x="5970547" y="-11343"/>
                  <a:pt x="6256365" y="35713"/>
                  <a:pt x="6389076" y="0"/>
                </a:cubicBezTo>
                <a:cubicBezTo>
                  <a:pt x="6397587" y="171830"/>
                  <a:pt x="6376437" y="311204"/>
                  <a:pt x="6389076" y="417653"/>
                </a:cubicBezTo>
                <a:cubicBezTo>
                  <a:pt x="6401715" y="524102"/>
                  <a:pt x="6344910" y="794520"/>
                  <a:pt x="6389076" y="907941"/>
                </a:cubicBezTo>
                <a:cubicBezTo>
                  <a:pt x="6433242" y="1021362"/>
                  <a:pt x="6359649" y="1143822"/>
                  <a:pt x="6389076" y="1325594"/>
                </a:cubicBezTo>
                <a:cubicBezTo>
                  <a:pt x="6418503" y="1507366"/>
                  <a:pt x="6356720" y="1639525"/>
                  <a:pt x="6389076" y="1815882"/>
                </a:cubicBezTo>
                <a:cubicBezTo>
                  <a:pt x="6167989" y="1876478"/>
                  <a:pt x="6008098" y="1762661"/>
                  <a:pt x="5808251" y="1815882"/>
                </a:cubicBezTo>
                <a:cubicBezTo>
                  <a:pt x="5608404" y="1869103"/>
                  <a:pt x="5355967" y="1742318"/>
                  <a:pt x="5163535" y="1815882"/>
                </a:cubicBezTo>
                <a:cubicBezTo>
                  <a:pt x="4971103" y="1889446"/>
                  <a:pt x="4851906" y="1811568"/>
                  <a:pt x="4582710" y="1815882"/>
                </a:cubicBezTo>
                <a:cubicBezTo>
                  <a:pt x="4313514" y="1820196"/>
                  <a:pt x="4296037" y="1772205"/>
                  <a:pt x="4129666" y="1815882"/>
                </a:cubicBezTo>
                <a:cubicBezTo>
                  <a:pt x="3963295" y="1859559"/>
                  <a:pt x="3715835" y="1802123"/>
                  <a:pt x="3484951" y="1815882"/>
                </a:cubicBezTo>
                <a:cubicBezTo>
                  <a:pt x="3254067" y="1829641"/>
                  <a:pt x="3091569" y="1798103"/>
                  <a:pt x="2968016" y="1815882"/>
                </a:cubicBezTo>
                <a:cubicBezTo>
                  <a:pt x="2844463" y="1833661"/>
                  <a:pt x="2429414" y="1764100"/>
                  <a:pt x="2259410" y="1815882"/>
                </a:cubicBezTo>
                <a:cubicBezTo>
                  <a:pt x="2089406" y="1867664"/>
                  <a:pt x="1879174" y="1796376"/>
                  <a:pt x="1614694" y="1815882"/>
                </a:cubicBezTo>
                <a:cubicBezTo>
                  <a:pt x="1350214" y="1835388"/>
                  <a:pt x="1336213" y="1790840"/>
                  <a:pt x="1097759" y="1815882"/>
                </a:cubicBezTo>
                <a:cubicBezTo>
                  <a:pt x="859306" y="1840924"/>
                  <a:pt x="773676" y="1801113"/>
                  <a:pt x="516934" y="1815882"/>
                </a:cubicBezTo>
                <a:cubicBezTo>
                  <a:pt x="260192" y="1830651"/>
                  <a:pt x="178051" y="1789684"/>
                  <a:pt x="0" y="1815882"/>
                </a:cubicBezTo>
                <a:cubicBezTo>
                  <a:pt x="-4870" y="1654482"/>
                  <a:pt x="1493" y="1583434"/>
                  <a:pt x="0" y="1398229"/>
                </a:cubicBezTo>
                <a:cubicBezTo>
                  <a:pt x="-1493" y="1213024"/>
                  <a:pt x="25977" y="1077930"/>
                  <a:pt x="0" y="962417"/>
                </a:cubicBezTo>
                <a:cubicBezTo>
                  <a:pt x="-25977" y="846904"/>
                  <a:pt x="4491" y="632566"/>
                  <a:pt x="0" y="508447"/>
                </a:cubicBezTo>
                <a:cubicBezTo>
                  <a:pt x="-4491" y="384328"/>
                  <a:pt x="21616" y="181865"/>
                  <a:pt x="0" y="0"/>
                </a:cubicBezTo>
                <a:close/>
              </a:path>
              <a:path w="6389076" h="1815882" stroke="0" extrusionOk="0">
                <a:moveTo>
                  <a:pt x="0" y="0"/>
                </a:moveTo>
                <a:cubicBezTo>
                  <a:pt x="171957" y="-42035"/>
                  <a:pt x="302648" y="11691"/>
                  <a:pt x="516934" y="0"/>
                </a:cubicBezTo>
                <a:cubicBezTo>
                  <a:pt x="731220" y="-11691"/>
                  <a:pt x="813759" y="18816"/>
                  <a:pt x="969978" y="0"/>
                </a:cubicBezTo>
                <a:cubicBezTo>
                  <a:pt x="1126197" y="-18816"/>
                  <a:pt x="1243861" y="46497"/>
                  <a:pt x="1423021" y="0"/>
                </a:cubicBezTo>
                <a:cubicBezTo>
                  <a:pt x="1602181" y="-46497"/>
                  <a:pt x="1639404" y="24108"/>
                  <a:pt x="1812174" y="0"/>
                </a:cubicBezTo>
                <a:cubicBezTo>
                  <a:pt x="1984944" y="-24108"/>
                  <a:pt x="2081163" y="39590"/>
                  <a:pt x="2201327" y="0"/>
                </a:cubicBezTo>
                <a:cubicBezTo>
                  <a:pt x="2321491" y="-39590"/>
                  <a:pt x="2476227" y="7051"/>
                  <a:pt x="2590480" y="0"/>
                </a:cubicBezTo>
                <a:cubicBezTo>
                  <a:pt x="2704733" y="-7051"/>
                  <a:pt x="3017827" y="46104"/>
                  <a:pt x="3235196" y="0"/>
                </a:cubicBezTo>
                <a:cubicBezTo>
                  <a:pt x="3452565" y="-46104"/>
                  <a:pt x="3514659" y="5188"/>
                  <a:pt x="3624349" y="0"/>
                </a:cubicBezTo>
                <a:cubicBezTo>
                  <a:pt x="3734039" y="-5188"/>
                  <a:pt x="3876654" y="44114"/>
                  <a:pt x="4077392" y="0"/>
                </a:cubicBezTo>
                <a:cubicBezTo>
                  <a:pt x="4278130" y="-44114"/>
                  <a:pt x="4340653" y="12312"/>
                  <a:pt x="4530436" y="0"/>
                </a:cubicBezTo>
                <a:cubicBezTo>
                  <a:pt x="4720219" y="-12312"/>
                  <a:pt x="4949580" y="14808"/>
                  <a:pt x="5239042" y="0"/>
                </a:cubicBezTo>
                <a:cubicBezTo>
                  <a:pt x="5528504" y="-14808"/>
                  <a:pt x="5507242" y="42446"/>
                  <a:pt x="5628195" y="0"/>
                </a:cubicBezTo>
                <a:cubicBezTo>
                  <a:pt x="5749148" y="-42446"/>
                  <a:pt x="6019116" y="43311"/>
                  <a:pt x="6389076" y="0"/>
                </a:cubicBezTo>
                <a:cubicBezTo>
                  <a:pt x="6420828" y="170023"/>
                  <a:pt x="6345048" y="281048"/>
                  <a:pt x="6389076" y="490288"/>
                </a:cubicBezTo>
                <a:cubicBezTo>
                  <a:pt x="6433104" y="699528"/>
                  <a:pt x="6367712" y="835801"/>
                  <a:pt x="6389076" y="962417"/>
                </a:cubicBezTo>
                <a:cubicBezTo>
                  <a:pt x="6410440" y="1089033"/>
                  <a:pt x="6347893" y="1511866"/>
                  <a:pt x="6389076" y="1815882"/>
                </a:cubicBezTo>
                <a:cubicBezTo>
                  <a:pt x="6202127" y="1861310"/>
                  <a:pt x="6169932" y="1778162"/>
                  <a:pt x="5999923" y="1815882"/>
                </a:cubicBezTo>
                <a:cubicBezTo>
                  <a:pt x="5829914" y="1853602"/>
                  <a:pt x="5676821" y="1815045"/>
                  <a:pt x="5546880" y="1815882"/>
                </a:cubicBezTo>
                <a:cubicBezTo>
                  <a:pt x="5416939" y="1816719"/>
                  <a:pt x="5226730" y="1772973"/>
                  <a:pt x="5029945" y="1815882"/>
                </a:cubicBezTo>
                <a:cubicBezTo>
                  <a:pt x="4833160" y="1858791"/>
                  <a:pt x="4725217" y="1790277"/>
                  <a:pt x="4449120" y="1815882"/>
                </a:cubicBezTo>
                <a:cubicBezTo>
                  <a:pt x="4173024" y="1841487"/>
                  <a:pt x="4184736" y="1792311"/>
                  <a:pt x="3932186" y="1815882"/>
                </a:cubicBezTo>
                <a:cubicBezTo>
                  <a:pt x="3679636" y="1839453"/>
                  <a:pt x="3736453" y="1813319"/>
                  <a:pt x="3543033" y="1815882"/>
                </a:cubicBezTo>
                <a:cubicBezTo>
                  <a:pt x="3349613" y="1818445"/>
                  <a:pt x="3176689" y="1756012"/>
                  <a:pt x="2962208" y="1815882"/>
                </a:cubicBezTo>
                <a:cubicBezTo>
                  <a:pt x="2747728" y="1875752"/>
                  <a:pt x="2642139" y="1793504"/>
                  <a:pt x="2381383" y="1815882"/>
                </a:cubicBezTo>
                <a:cubicBezTo>
                  <a:pt x="2120627" y="1838260"/>
                  <a:pt x="2040855" y="1790071"/>
                  <a:pt x="1736667" y="1815882"/>
                </a:cubicBezTo>
                <a:cubicBezTo>
                  <a:pt x="1432479" y="1841693"/>
                  <a:pt x="1348531" y="1771379"/>
                  <a:pt x="1028060" y="1815882"/>
                </a:cubicBezTo>
                <a:cubicBezTo>
                  <a:pt x="707589" y="1860385"/>
                  <a:pt x="701814" y="1806640"/>
                  <a:pt x="575017" y="1815882"/>
                </a:cubicBezTo>
                <a:cubicBezTo>
                  <a:pt x="448220" y="1825124"/>
                  <a:pt x="125463" y="1772695"/>
                  <a:pt x="0" y="1815882"/>
                </a:cubicBezTo>
                <a:cubicBezTo>
                  <a:pt x="-8025" y="1710715"/>
                  <a:pt x="28371" y="1499797"/>
                  <a:pt x="0" y="1416388"/>
                </a:cubicBezTo>
                <a:cubicBezTo>
                  <a:pt x="-28371" y="1332979"/>
                  <a:pt x="9343" y="1165550"/>
                  <a:pt x="0" y="1016894"/>
                </a:cubicBezTo>
                <a:cubicBezTo>
                  <a:pt x="-9343" y="868238"/>
                  <a:pt x="16726" y="668022"/>
                  <a:pt x="0" y="562923"/>
                </a:cubicBezTo>
                <a:cubicBezTo>
                  <a:pt x="-16726" y="457824"/>
                  <a:pt x="8553" y="12339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49921161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2800" b="1" noProof="0">
                <a:latin typeface="DM Sans Bold"/>
                <a:ea typeface="Calibri"/>
                <a:cs typeface="Calibri"/>
              </a:rPr>
              <a:t>=&gt; </a:t>
            </a:r>
            <a:r>
              <a:rPr lang="fr-FR" sz="2800" b="1" noProof="0" err="1">
                <a:latin typeface="DM Sans Bold"/>
                <a:ea typeface="Calibri"/>
                <a:cs typeface="Calibri"/>
              </a:rPr>
              <a:t>Given</a:t>
            </a:r>
            <a:r>
              <a:rPr lang="fr-FR" sz="2800" b="1" noProof="0">
                <a:latin typeface="DM Sans Bold"/>
                <a:ea typeface="Calibri"/>
                <a:cs typeface="Calibri"/>
              </a:rPr>
              <a:t> MATAKANA</a:t>
            </a:r>
            <a:endParaRPr lang="fr-FR" sz="2800" noProof="0">
              <a:ea typeface="Calibri"/>
              <a:cs typeface="Calibri"/>
            </a:endParaRPr>
          </a:p>
          <a:p>
            <a:pPr algn="ctr"/>
            <a:r>
              <a:rPr lang="fr-FR" sz="2800" b="1" noProof="0">
                <a:latin typeface="DM Sans Bold"/>
                <a:ea typeface="Calibri"/>
                <a:cs typeface="Calibri"/>
              </a:rPr>
              <a:t>=&gt; </a:t>
            </a:r>
            <a:r>
              <a:rPr lang="fr-FR" sz="2800" b="1">
                <a:latin typeface="DM Sans Bold"/>
                <a:ea typeface="Calibri"/>
                <a:cs typeface="Calibri"/>
              </a:rPr>
              <a:t>Loïc</a:t>
            </a:r>
            <a:r>
              <a:rPr lang="fr-FR" sz="2800" b="1" noProof="0">
                <a:latin typeface="DM Sans Bold"/>
                <a:ea typeface="Calibri"/>
                <a:cs typeface="Calibri"/>
              </a:rPr>
              <a:t> VECHAMBRE</a:t>
            </a:r>
            <a:r>
              <a:rPr lang="fr-FR" sz="2800" b="1">
                <a:latin typeface="DM Sans Bold"/>
                <a:ea typeface="Calibri"/>
                <a:cs typeface="Calibri"/>
              </a:rPr>
              <a:t> </a:t>
            </a:r>
            <a:endParaRPr lang="fr-FR" sz="2800" b="1" noProof="0">
              <a:latin typeface="DM Sans Bold"/>
              <a:ea typeface="Calibri"/>
              <a:cs typeface="Calibri"/>
            </a:endParaRPr>
          </a:p>
          <a:p>
            <a:pPr algn="ctr"/>
            <a:r>
              <a:rPr lang="fr-FR" sz="2800" b="1" noProof="0">
                <a:latin typeface="DM Sans Bold"/>
                <a:ea typeface="Calibri"/>
                <a:cs typeface="Calibri"/>
              </a:rPr>
              <a:t>=&gt; Quentin SILVA </a:t>
            </a:r>
            <a:endParaRPr lang="fr-FR" noProof="0">
              <a:ea typeface="Calibri"/>
              <a:cs typeface="Calibri"/>
            </a:endParaRPr>
          </a:p>
          <a:p>
            <a:pPr algn="ctr"/>
            <a:r>
              <a:rPr lang="fr-FR" sz="2800" b="1" noProof="0">
                <a:latin typeface="DM Sans Bold"/>
                <a:ea typeface="Calibri"/>
                <a:cs typeface="Calibri"/>
              </a:rPr>
              <a:t>=&gt; Arthur GRIZON</a:t>
            </a:r>
            <a:r>
              <a:rPr lang="fr-FR" sz="2800" b="1" noProof="0">
                <a:ea typeface="Calibri"/>
                <a:cs typeface="Calibri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FF08D-9BA3-E356-E955-161893630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878896E-B6CC-12EF-2966-7667F00697BB}"/>
              </a:ext>
            </a:extLst>
          </p:cNvPr>
          <p:cNvSpPr/>
          <p:nvPr/>
        </p:nvSpPr>
        <p:spPr>
          <a:xfrm>
            <a:off x="-967138" y="-5962396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scene3d>
            <a:camera prst="isometricOffAxis1Top"/>
            <a:lightRig rig="threePt" dir="t"/>
          </a:scene3d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0A7AAF0-FF7A-5C86-12C1-AFB7064FE47C}"/>
              </a:ext>
            </a:extLst>
          </p:cNvPr>
          <p:cNvSpPr/>
          <p:nvPr/>
        </p:nvSpPr>
        <p:spPr>
          <a:xfrm>
            <a:off x="964176" y="446596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D2924D0-4DC6-6702-F04D-D50F0EC5260E}"/>
              </a:ext>
            </a:extLst>
          </p:cNvPr>
          <p:cNvSpPr txBox="1"/>
          <p:nvPr/>
        </p:nvSpPr>
        <p:spPr>
          <a:xfrm>
            <a:off x="964176" y="2229427"/>
            <a:ext cx="16582736" cy="1089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fr-FR" sz="8000" b="1" noProof="0">
                <a:solidFill>
                  <a:srgbClr val="34343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Hewitt Bold"/>
                <a:ea typeface="Cooper Hewitt Bold"/>
                <a:sym typeface="Cooper Hewitt Bold"/>
              </a:rPr>
              <a:t>Présentation de l’entreprise </a:t>
            </a:r>
            <a:endParaRPr lang="fr-FR" sz="8000" noProof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AA7E8D3-CFB5-6600-3517-6FC047E96FFA}"/>
              </a:ext>
            </a:extLst>
          </p:cNvPr>
          <p:cNvSpPr txBox="1"/>
          <p:nvPr/>
        </p:nvSpPr>
        <p:spPr>
          <a:xfrm>
            <a:off x="1838090" y="5326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1" name="TextBox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5F97794-0ABE-8FC9-806C-CF0748862E85}"/>
              </a:ext>
            </a:extLst>
          </p:cNvPr>
          <p:cNvSpPr txBox="1"/>
          <p:nvPr/>
        </p:nvSpPr>
        <p:spPr>
          <a:xfrm>
            <a:off x="1843347" y="4757882"/>
            <a:ext cx="10858500" cy="3508653"/>
          </a:xfrm>
          <a:custGeom>
            <a:avLst/>
            <a:gdLst>
              <a:gd name="connsiteX0" fmla="*/ 0 w 10858500"/>
              <a:gd name="connsiteY0" fmla="*/ 0 h 3508653"/>
              <a:gd name="connsiteX1" fmla="*/ 788670 w 10858500"/>
              <a:gd name="connsiteY1" fmla="*/ 0 h 3508653"/>
              <a:gd name="connsiteX2" fmla="*/ 1577340 w 10858500"/>
              <a:gd name="connsiteY2" fmla="*/ 0 h 3508653"/>
              <a:gd name="connsiteX3" fmla="*/ 2148840 w 10858500"/>
              <a:gd name="connsiteY3" fmla="*/ 0 h 3508653"/>
              <a:gd name="connsiteX4" fmla="*/ 2828925 w 10858500"/>
              <a:gd name="connsiteY4" fmla="*/ 0 h 3508653"/>
              <a:gd name="connsiteX5" fmla="*/ 3400425 w 10858500"/>
              <a:gd name="connsiteY5" fmla="*/ 0 h 3508653"/>
              <a:gd name="connsiteX6" fmla="*/ 3971925 w 10858500"/>
              <a:gd name="connsiteY6" fmla="*/ 0 h 3508653"/>
              <a:gd name="connsiteX7" fmla="*/ 4543425 w 10858500"/>
              <a:gd name="connsiteY7" fmla="*/ 0 h 3508653"/>
              <a:gd name="connsiteX8" fmla="*/ 4789170 w 10858500"/>
              <a:gd name="connsiteY8" fmla="*/ 0 h 3508653"/>
              <a:gd name="connsiteX9" fmla="*/ 5469255 w 10858500"/>
              <a:gd name="connsiteY9" fmla="*/ 0 h 3508653"/>
              <a:gd name="connsiteX10" fmla="*/ 5715000 w 10858500"/>
              <a:gd name="connsiteY10" fmla="*/ 0 h 3508653"/>
              <a:gd name="connsiteX11" fmla="*/ 6286500 w 10858500"/>
              <a:gd name="connsiteY11" fmla="*/ 0 h 3508653"/>
              <a:gd name="connsiteX12" fmla="*/ 7075170 w 10858500"/>
              <a:gd name="connsiteY12" fmla="*/ 0 h 3508653"/>
              <a:gd name="connsiteX13" fmla="*/ 7863840 w 10858500"/>
              <a:gd name="connsiteY13" fmla="*/ 0 h 3508653"/>
              <a:gd name="connsiteX14" fmla="*/ 8543925 w 10858500"/>
              <a:gd name="connsiteY14" fmla="*/ 0 h 3508653"/>
              <a:gd name="connsiteX15" fmla="*/ 9006840 w 10858500"/>
              <a:gd name="connsiteY15" fmla="*/ 0 h 3508653"/>
              <a:gd name="connsiteX16" fmla="*/ 9252585 w 10858500"/>
              <a:gd name="connsiteY16" fmla="*/ 0 h 3508653"/>
              <a:gd name="connsiteX17" fmla="*/ 9715500 w 10858500"/>
              <a:gd name="connsiteY17" fmla="*/ 0 h 3508653"/>
              <a:gd name="connsiteX18" fmla="*/ 10858500 w 10858500"/>
              <a:gd name="connsiteY18" fmla="*/ 0 h 3508653"/>
              <a:gd name="connsiteX19" fmla="*/ 10858500 w 10858500"/>
              <a:gd name="connsiteY19" fmla="*/ 654949 h 3508653"/>
              <a:gd name="connsiteX20" fmla="*/ 10858500 w 10858500"/>
              <a:gd name="connsiteY20" fmla="*/ 1309897 h 3508653"/>
              <a:gd name="connsiteX21" fmla="*/ 10858500 w 10858500"/>
              <a:gd name="connsiteY21" fmla="*/ 1824500 h 3508653"/>
              <a:gd name="connsiteX22" fmla="*/ 10858500 w 10858500"/>
              <a:gd name="connsiteY22" fmla="*/ 2479448 h 3508653"/>
              <a:gd name="connsiteX23" fmla="*/ 10858500 w 10858500"/>
              <a:gd name="connsiteY23" fmla="*/ 2994051 h 3508653"/>
              <a:gd name="connsiteX24" fmla="*/ 10858500 w 10858500"/>
              <a:gd name="connsiteY24" fmla="*/ 3508653 h 3508653"/>
              <a:gd name="connsiteX25" fmla="*/ 10069830 w 10858500"/>
              <a:gd name="connsiteY25" fmla="*/ 3508653 h 3508653"/>
              <a:gd name="connsiteX26" fmla="*/ 9606915 w 10858500"/>
              <a:gd name="connsiteY26" fmla="*/ 3508653 h 3508653"/>
              <a:gd name="connsiteX27" fmla="*/ 8926830 w 10858500"/>
              <a:gd name="connsiteY27" fmla="*/ 3508653 h 3508653"/>
              <a:gd name="connsiteX28" fmla="*/ 8681085 w 10858500"/>
              <a:gd name="connsiteY28" fmla="*/ 3508653 h 3508653"/>
              <a:gd name="connsiteX29" fmla="*/ 7892415 w 10858500"/>
              <a:gd name="connsiteY29" fmla="*/ 3508653 h 3508653"/>
              <a:gd name="connsiteX30" fmla="*/ 7429500 w 10858500"/>
              <a:gd name="connsiteY30" fmla="*/ 3508653 h 3508653"/>
              <a:gd name="connsiteX31" fmla="*/ 6858000 w 10858500"/>
              <a:gd name="connsiteY31" fmla="*/ 3508653 h 3508653"/>
              <a:gd name="connsiteX32" fmla="*/ 6503670 w 10858500"/>
              <a:gd name="connsiteY32" fmla="*/ 3508653 h 3508653"/>
              <a:gd name="connsiteX33" fmla="*/ 5823585 w 10858500"/>
              <a:gd name="connsiteY33" fmla="*/ 3508653 h 3508653"/>
              <a:gd name="connsiteX34" fmla="*/ 5034915 w 10858500"/>
              <a:gd name="connsiteY34" fmla="*/ 3508653 h 3508653"/>
              <a:gd name="connsiteX35" fmla="*/ 4572000 w 10858500"/>
              <a:gd name="connsiteY35" fmla="*/ 3508653 h 3508653"/>
              <a:gd name="connsiteX36" fmla="*/ 3783330 w 10858500"/>
              <a:gd name="connsiteY36" fmla="*/ 3508653 h 3508653"/>
              <a:gd name="connsiteX37" fmla="*/ 3211830 w 10858500"/>
              <a:gd name="connsiteY37" fmla="*/ 3508653 h 3508653"/>
              <a:gd name="connsiteX38" fmla="*/ 2423160 w 10858500"/>
              <a:gd name="connsiteY38" fmla="*/ 3508653 h 3508653"/>
              <a:gd name="connsiteX39" fmla="*/ 1634490 w 10858500"/>
              <a:gd name="connsiteY39" fmla="*/ 3508653 h 3508653"/>
              <a:gd name="connsiteX40" fmla="*/ 1280160 w 10858500"/>
              <a:gd name="connsiteY40" fmla="*/ 3508653 h 3508653"/>
              <a:gd name="connsiteX41" fmla="*/ 817245 w 10858500"/>
              <a:gd name="connsiteY41" fmla="*/ 3508653 h 3508653"/>
              <a:gd name="connsiteX42" fmla="*/ 0 w 10858500"/>
              <a:gd name="connsiteY42" fmla="*/ 3508653 h 3508653"/>
              <a:gd name="connsiteX43" fmla="*/ 0 w 10858500"/>
              <a:gd name="connsiteY43" fmla="*/ 2923878 h 3508653"/>
              <a:gd name="connsiteX44" fmla="*/ 0 w 10858500"/>
              <a:gd name="connsiteY44" fmla="*/ 2444362 h 3508653"/>
              <a:gd name="connsiteX45" fmla="*/ 0 w 10858500"/>
              <a:gd name="connsiteY45" fmla="*/ 1964846 h 3508653"/>
              <a:gd name="connsiteX46" fmla="*/ 0 w 10858500"/>
              <a:gd name="connsiteY46" fmla="*/ 1309897 h 3508653"/>
              <a:gd name="connsiteX47" fmla="*/ 0 w 10858500"/>
              <a:gd name="connsiteY47" fmla="*/ 760208 h 3508653"/>
              <a:gd name="connsiteX48" fmla="*/ 0 w 10858500"/>
              <a:gd name="connsiteY48" fmla="*/ 0 h 3508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0858500" h="3508653" fill="none" extrusionOk="0">
                <a:moveTo>
                  <a:pt x="0" y="0"/>
                </a:moveTo>
                <a:cubicBezTo>
                  <a:pt x="259375" y="-59764"/>
                  <a:pt x="492363" y="25842"/>
                  <a:pt x="788670" y="0"/>
                </a:cubicBezTo>
                <a:cubicBezTo>
                  <a:pt x="1084977" y="-25842"/>
                  <a:pt x="1330501" y="34101"/>
                  <a:pt x="1577340" y="0"/>
                </a:cubicBezTo>
                <a:cubicBezTo>
                  <a:pt x="1824179" y="-34101"/>
                  <a:pt x="1864316" y="53641"/>
                  <a:pt x="2148840" y="0"/>
                </a:cubicBezTo>
                <a:cubicBezTo>
                  <a:pt x="2433364" y="-53641"/>
                  <a:pt x="2489580" y="27172"/>
                  <a:pt x="2828925" y="0"/>
                </a:cubicBezTo>
                <a:cubicBezTo>
                  <a:pt x="3168270" y="-27172"/>
                  <a:pt x="3257910" y="68194"/>
                  <a:pt x="3400425" y="0"/>
                </a:cubicBezTo>
                <a:cubicBezTo>
                  <a:pt x="3542940" y="-68194"/>
                  <a:pt x="3688744" y="51575"/>
                  <a:pt x="3971925" y="0"/>
                </a:cubicBezTo>
                <a:cubicBezTo>
                  <a:pt x="4255106" y="-51575"/>
                  <a:pt x="4379356" y="42442"/>
                  <a:pt x="4543425" y="0"/>
                </a:cubicBezTo>
                <a:cubicBezTo>
                  <a:pt x="4707494" y="-42442"/>
                  <a:pt x="4695226" y="9373"/>
                  <a:pt x="4789170" y="0"/>
                </a:cubicBezTo>
                <a:cubicBezTo>
                  <a:pt x="4883114" y="-9373"/>
                  <a:pt x="5151535" y="25351"/>
                  <a:pt x="5469255" y="0"/>
                </a:cubicBezTo>
                <a:cubicBezTo>
                  <a:pt x="5786975" y="-25351"/>
                  <a:pt x="5661925" y="27609"/>
                  <a:pt x="5715000" y="0"/>
                </a:cubicBezTo>
                <a:cubicBezTo>
                  <a:pt x="5768076" y="-27609"/>
                  <a:pt x="6069495" y="49732"/>
                  <a:pt x="6286500" y="0"/>
                </a:cubicBezTo>
                <a:cubicBezTo>
                  <a:pt x="6503505" y="-49732"/>
                  <a:pt x="6695783" y="21612"/>
                  <a:pt x="7075170" y="0"/>
                </a:cubicBezTo>
                <a:cubicBezTo>
                  <a:pt x="7454557" y="-21612"/>
                  <a:pt x="7683793" y="93684"/>
                  <a:pt x="7863840" y="0"/>
                </a:cubicBezTo>
                <a:cubicBezTo>
                  <a:pt x="8043887" y="-93684"/>
                  <a:pt x="8385636" y="80784"/>
                  <a:pt x="8543925" y="0"/>
                </a:cubicBezTo>
                <a:cubicBezTo>
                  <a:pt x="8702214" y="-80784"/>
                  <a:pt x="8884849" y="27455"/>
                  <a:pt x="9006840" y="0"/>
                </a:cubicBezTo>
                <a:cubicBezTo>
                  <a:pt x="9128832" y="-27455"/>
                  <a:pt x="9184554" y="12443"/>
                  <a:pt x="9252585" y="0"/>
                </a:cubicBezTo>
                <a:cubicBezTo>
                  <a:pt x="9320616" y="-12443"/>
                  <a:pt x="9520869" y="45379"/>
                  <a:pt x="9715500" y="0"/>
                </a:cubicBezTo>
                <a:cubicBezTo>
                  <a:pt x="9910132" y="-45379"/>
                  <a:pt x="10418579" y="84861"/>
                  <a:pt x="10858500" y="0"/>
                </a:cubicBezTo>
                <a:cubicBezTo>
                  <a:pt x="10900483" y="219859"/>
                  <a:pt x="10802832" y="381241"/>
                  <a:pt x="10858500" y="654949"/>
                </a:cubicBezTo>
                <a:cubicBezTo>
                  <a:pt x="10914168" y="928657"/>
                  <a:pt x="10796128" y="1044495"/>
                  <a:pt x="10858500" y="1309897"/>
                </a:cubicBezTo>
                <a:cubicBezTo>
                  <a:pt x="10920872" y="1575299"/>
                  <a:pt x="10825002" y="1656349"/>
                  <a:pt x="10858500" y="1824500"/>
                </a:cubicBezTo>
                <a:cubicBezTo>
                  <a:pt x="10891998" y="1992651"/>
                  <a:pt x="10821888" y="2327563"/>
                  <a:pt x="10858500" y="2479448"/>
                </a:cubicBezTo>
                <a:cubicBezTo>
                  <a:pt x="10895112" y="2631333"/>
                  <a:pt x="10851271" y="2865929"/>
                  <a:pt x="10858500" y="2994051"/>
                </a:cubicBezTo>
                <a:cubicBezTo>
                  <a:pt x="10865729" y="3122173"/>
                  <a:pt x="10819301" y="3358190"/>
                  <a:pt x="10858500" y="3508653"/>
                </a:cubicBezTo>
                <a:cubicBezTo>
                  <a:pt x="10513619" y="3587134"/>
                  <a:pt x="10350447" y="3437265"/>
                  <a:pt x="10069830" y="3508653"/>
                </a:cubicBezTo>
                <a:cubicBezTo>
                  <a:pt x="9789213" y="3580041"/>
                  <a:pt x="9805876" y="3471230"/>
                  <a:pt x="9606915" y="3508653"/>
                </a:cubicBezTo>
                <a:cubicBezTo>
                  <a:pt x="9407955" y="3546076"/>
                  <a:pt x="9106665" y="3433482"/>
                  <a:pt x="8926830" y="3508653"/>
                </a:cubicBezTo>
                <a:cubicBezTo>
                  <a:pt x="8746996" y="3583824"/>
                  <a:pt x="8768441" y="3491386"/>
                  <a:pt x="8681085" y="3508653"/>
                </a:cubicBezTo>
                <a:cubicBezTo>
                  <a:pt x="8593730" y="3525920"/>
                  <a:pt x="8165787" y="3424867"/>
                  <a:pt x="7892415" y="3508653"/>
                </a:cubicBezTo>
                <a:cubicBezTo>
                  <a:pt x="7619043" y="3592439"/>
                  <a:pt x="7641661" y="3465131"/>
                  <a:pt x="7429500" y="3508653"/>
                </a:cubicBezTo>
                <a:cubicBezTo>
                  <a:pt x="7217339" y="3552175"/>
                  <a:pt x="6977299" y="3479498"/>
                  <a:pt x="6858000" y="3508653"/>
                </a:cubicBezTo>
                <a:cubicBezTo>
                  <a:pt x="6738701" y="3537808"/>
                  <a:pt x="6678723" y="3468467"/>
                  <a:pt x="6503670" y="3508653"/>
                </a:cubicBezTo>
                <a:cubicBezTo>
                  <a:pt x="6328617" y="3548839"/>
                  <a:pt x="6070376" y="3444183"/>
                  <a:pt x="5823585" y="3508653"/>
                </a:cubicBezTo>
                <a:cubicBezTo>
                  <a:pt x="5576794" y="3573123"/>
                  <a:pt x="5414291" y="3500363"/>
                  <a:pt x="5034915" y="3508653"/>
                </a:cubicBezTo>
                <a:cubicBezTo>
                  <a:pt x="4655539" y="3516943"/>
                  <a:pt x="4750170" y="3470255"/>
                  <a:pt x="4572000" y="3508653"/>
                </a:cubicBezTo>
                <a:cubicBezTo>
                  <a:pt x="4393831" y="3547051"/>
                  <a:pt x="4094031" y="3419591"/>
                  <a:pt x="3783330" y="3508653"/>
                </a:cubicBezTo>
                <a:cubicBezTo>
                  <a:pt x="3472629" y="3597715"/>
                  <a:pt x="3405398" y="3456719"/>
                  <a:pt x="3211830" y="3508653"/>
                </a:cubicBezTo>
                <a:cubicBezTo>
                  <a:pt x="3018262" y="3560587"/>
                  <a:pt x="2775574" y="3439397"/>
                  <a:pt x="2423160" y="3508653"/>
                </a:cubicBezTo>
                <a:cubicBezTo>
                  <a:pt x="2070746" y="3577909"/>
                  <a:pt x="1966719" y="3446868"/>
                  <a:pt x="1634490" y="3508653"/>
                </a:cubicBezTo>
                <a:cubicBezTo>
                  <a:pt x="1302261" y="3570438"/>
                  <a:pt x="1451361" y="3500710"/>
                  <a:pt x="1280160" y="3508653"/>
                </a:cubicBezTo>
                <a:cubicBezTo>
                  <a:pt x="1108959" y="3516596"/>
                  <a:pt x="953023" y="3465422"/>
                  <a:pt x="817245" y="3508653"/>
                </a:cubicBezTo>
                <a:cubicBezTo>
                  <a:pt x="681468" y="3551884"/>
                  <a:pt x="234618" y="3491850"/>
                  <a:pt x="0" y="3508653"/>
                </a:cubicBezTo>
                <a:cubicBezTo>
                  <a:pt x="-62935" y="3308950"/>
                  <a:pt x="36177" y="3164019"/>
                  <a:pt x="0" y="2923878"/>
                </a:cubicBezTo>
                <a:cubicBezTo>
                  <a:pt x="-36177" y="2683738"/>
                  <a:pt x="40609" y="2671623"/>
                  <a:pt x="0" y="2444362"/>
                </a:cubicBezTo>
                <a:cubicBezTo>
                  <a:pt x="-40609" y="2217101"/>
                  <a:pt x="57053" y="2077639"/>
                  <a:pt x="0" y="1964846"/>
                </a:cubicBezTo>
                <a:cubicBezTo>
                  <a:pt x="-57053" y="1852053"/>
                  <a:pt x="54774" y="1548745"/>
                  <a:pt x="0" y="1309897"/>
                </a:cubicBezTo>
                <a:cubicBezTo>
                  <a:pt x="-54774" y="1071049"/>
                  <a:pt x="55243" y="995549"/>
                  <a:pt x="0" y="760208"/>
                </a:cubicBezTo>
                <a:cubicBezTo>
                  <a:pt x="-55243" y="524867"/>
                  <a:pt x="35257" y="276690"/>
                  <a:pt x="0" y="0"/>
                </a:cubicBezTo>
                <a:close/>
              </a:path>
              <a:path w="10858500" h="3508653" stroke="0" extrusionOk="0">
                <a:moveTo>
                  <a:pt x="0" y="0"/>
                </a:moveTo>
                <a:cubicBezTo>
                  <a:pt x="183736" y="-33138"/>
                  <a:pt x="261268" y="38709"/>
                  <a:pt x="462915" y="0"/>
                </a:cubicBezTo>
                <a:cubicBezTo>
                  <a:pt x="664562" y="-38709"/>
                  <a:pt x="626439" y="2637"/>
                  <a:pt x="708660" y="0"/>
                </a:cubicBezTo>
                <a:cubicBezTo>
                  <a:pt x="790882" y="-2637"/>
                  <a:pt x="1240057" y="19992"/>
                  <a:pt x="1497330" y="0"/>
                </a:cubicBezTo>
                <a:cubicBezTo>
                  <a:pt x="1754603" y="-19992"/>
                  <a:pt x="1855745" y="24251"/>
                  <a:pt x="1960245" y="0"/>
                </a:cubicBezTo>
                <a:cubicBezTo>
                  <a:pt x="2064745" y="-24251"/>
                  <a:pt x="2278796" y="47135"/>
                  <a:pt x="2423160" y="0"/>
                </a:cubicBezTo>
                <a:cubicBezTo>
                  <a:pt x="2567525" y="-47135"/>
                  <a:pt x="2885797" y="43698"/>
                  <a:pt x="3211830" y="0"/>
                </a:cubicBezTo>
                <a:cubicBezTo>
                  <a:pt x="3537863" y="-43698"/>
                  <a:pt x="3446356" y="37017"/>
                  <a:pt x="3566160" y="0"/>
                </a:cubicBezTo>
                <a:cubicBezTo>
                  <a:pt x="3685964" y="-37017"/>
                  <a:pt x="4080706" y="84554"/>
                  <a:pt x="4354830" y="0"/>
                </a:cubicBezTo>
                <a:cubicBezTo>
                  <a:pt x="4628954" y="-84554"/>
                  <a:pt x="4787590" y="41373"/>
                  <a:pt x="5143500" y="0"/>
                </a:cubicBezTo>
                <a:cubicBezTo>
                  <a:pt x="5499410" y="-41373"/>
                  <a:pt x="5483930" y="6061"/>
                  <a:pt x="5715000" y="0"/>
                </a:cubicBezTo>
                <a:cubicBezTo>
                  <a:pt x="5946070" y="-6061"/>
                  <a:pt x="6162428" y="2203"/>
                  <a:pt x="6503670" y="0"/>
                </a:cubicBezTo>
                <a:cubicBezTo>
                  <a:pt x="6844912" y="-2203"/>
                  <a:pt x="6777473" y="17133"/>
                  <a:pt x="6966585" y="0"/>
                </a:cubicBezTo>
                <a:cubicBezTo>
                  <a:pt x="7155698" y="-17133"/>
                  <a:pt x="7220418" y="20052"/>
                  <a:pt x="7429500" y="0"/>
                </a:cubicBezTo>
                <a:cubicBezTo>
                  <a:pt x="7638582" y="-20052"/>
                  <a:pt x="7863464" y="77410"/>
                  <a:pt x="8109585" y="0"/>
                </a:cubicBezTo>
                <a:cubicBezTo>
                  <a:pt x="8355707" y="-77410"/>
                  <a:pt x="8463044" y="22971"/>
                  <a:pt x="8572500" y="0"/>
                </a:cubicBezTo>
                <a:cubicBezTo>
                  <a:pt x="8681957" y="-22971"/>
                  <a:pt x="9033906" y="10390"/>
                  <a:pt x="9361170" y="0"/>
                </a:cubicBezTo>
                <a:cubicBezTo>
                  <a:pt x="9688434" y="-10390"/>
                  <a:pt x="9868470" y="17781"/>
                  <a:pt x="10149840" y="0"/>
                </a:cubicBezTo>
                <a:cubicBezTo>
                  <a:pt x="10431210" y="-17781"/>
                  <a:pt x="10602312" y="59099"/>
                  <a:pt x="10858500" y="0"/>
                </a:cubicBezTo>
                <a:cubicBezTo>
                  <a:pt x="10916789" y="114248"/>
                  <a:pt x="10837279" y="301440"/>
                  <a:pt x="10858500" y="549689"/>
                </a:cubicBezTo>
                <a:cubicBezTo>
                  <a:pt x="10879721" y="797938"/>
                  <a:pt x="10841479" y="863394"/>
                  <a:pt x="10858500" y="1029205"/>
                </a:cubicBezTo>
                <a:cubicBezTo>
                  <a:pt x="10875521" y="1195016"/>
                  <a:pt x="10837160" y="1323723"/>
                  <a:pt x="10858500" y="1543807"/>
                </a:cubicBezTo>
                <a:cubicBezTo>
                  <a:pt x="10879840" y="1763891"/>
                  <a:pt x="10852392" y="2028329"/>
                  <a:pt x="10858500" y="2163669"/>
                </a:cubicBezTo>
                <a:cubicBezTo>
                  <a:pt x="10864608" y="2299009"/>
                  <a:pt x="10803367" y="2438823"/>
                  <a:pt x="10858500" y="2713358"/>
                </a:cubicBezTo>
                <a:cubicBezTo>
                  <a:pt x="10913633" y="2987893"/>
                  <a:pt x="10788210" y="3128194"/>
                  <a:pt x="10858500" y="3508653"/>
                </a:cubicBezTo>
                <a:cubicBezTo>
                  <a:pt x="10601432" y="3531107"/>
                  <a:pt x="10428486" y="3481604"/>
                  <a:pt x="10178415" y="3508653"/>
                </a:cubicBezTo>
                <a:cubicBezTo>
                  <a:pt x="9928344" y="3535702"/>
                  <a:pt x="9985438" y="3498574"/>
                  <a:pt x="9932670" y="3508653"/>
                </a:cubicBezTo>
                <a:cubicBezTo>
                  <a:pt x="9879903" y="3518732"/>
                  <a:pt x="9595447" y="3473285"/>
                  <a:pt x="9361170" y="3508653"/>
                </a:cubicBezTo>
                <a:cubicBezTo>
                  <a:pt x="9126893" y="3544021"/>
                  <a:pt x="9179441" y="3493039"/>
                  <a:pt x="9006840" y="3508653"/>
                </a:cubicBezTo>
                <a:cubicBezTo>
                  <a:pt x="8834239" y="3524267"/>
                  <a:pt x="8545258" y="3485613"/>
                  <a:pt x="8326755" y="3508653"/>
                </a:cubicBezTo>
                <a:cubicBezTo>
                  <a:pt x="8108252" y="3531693"/>
                  <a:pt x="8114284" y="3501517"/>
                  <a:pt x="7972425" y="3508653"/>
                </a:cubicBezTo>
                <a:cubicBezTo>
                  <a:pt x="7830566" y="3515789"/>
                  <a:pt x="7548754" y="3450187"/>
                  <a:pt x="7292340" y="3508653"/>
                </a:cubicBezTo>
                <a:cubicBezTo>
                  <a:pt x="7035927" y="3567119"/>
                  <a:pt x="7119658" y="3502722"/>
                  <a:pt x="7046595" y="3508653"/>
                </a:cubicBezTo>
                <a:cubicBezTo>
                  <a:pt x="6973533" y="3514584"/>
                  <a:pt x="6611367" y="3467494"/>
                  <a:pt x="6366510" y="3508653"/>
                </a:cubicBezTo>
                <a:cubicBezTo>
                  <a:pt x="6121653" y="3549812"/>
                  <a:pt x="6088461" y="3487211"/>
                  <a:pt x="6012180" y="3508653"/>
                </a:cubicBezTo>
                <a:cubicBezTo>
                  <a:pt x="5935899" y="3530095"/>
                  <a:pt x="5870981" y="3499503"/>
                  <a:pt x="5766435" y="3508653"/>
                </a:cubicBezTo>
                <a:cubicBezTo>
                  <a:pt x="5661889" y="3517803"/>
                  <a:pt x="5559641" y="3473377"/>
                  <a:pt x="5412105" y="3508653"/>
                </a:cubicBezTo>
                <a:cubicBezTo>
                  <a:pt x="5264569" y="3543929"/>
                  <a:pt x="4871027" y="3502991"/>
                  <a:pt x="4732020" y="3508653"/>
                </a:cubicBezTo>
                <a:cubicBezTo>
                  <a:pt x="4593013" y="3514315"/>
                  <a:pt x="4493599" y="3504488"/>
                  <a:pt x="4377690" y="3508653"/>
                </a:cubicBezTo>
                <a:cubicBezTo>
                  <a:pt x="4261781" y="3512818"/>
                  <a:pt x="4199127" y="3507619"/>
                  <a:pt x="4131945" y="3508653"/>
                </a:cubicBezTo>
                <a:cubicBezTo>
                  <a:pt x="4064764" y="3509687"/>
                  <a:pt x="3875795" y="3480551"/>
                  <a:pt x="3777615" y="3508653"/>
                </a:cubicBezTo>
                <a:cubicBezTo>
                  <a:pt x="3679435" y="3536755"/>
                  <a:pt x="3544966" y="3507164"/>
                  <a:pt x="3314700" y="3508653"/>
                </a:cubicBezTo>
                <a:cubicBezTo>
                  <a:pt x="3084434" y="3510142"/>
                  <a:pt x="2906802" y="3471657"/>
                  <a:pt x="2743200" y="3508653"/>
                </a:cubicBezTo>
                <a:cubicBezTo>
                  <a:pt x="2579598" y="3545649"/>
                  <a:pt x="2517567" y="3487198"/>
                  <a:pt x="2388870" y="3508653"/>
                </a:cubicBezTo>
                <a:cubicBezTo>
                  <a:pt x="2260173" y="3530108"/>
                  <a:pt x="1865702" y="3433696"/>
                  <a:pt x="1600200" y="3508653"/>
                </a:cubicBezTo>
                <a:cubicBezTo>
                  <a:pt x="1334698" y="3583610"/>
                  <a:pt x="1258220" y="3468324"/>
                  <a:pt x="1028700" y="3508653"/>
                </a:cubicBezTo>
                <a:cubicBezTo>
                  <a:pt x="799180" y="3548982"/>
                  <a:pt x="235722" y="3401286"/>
                  <a:pt x="0" y="3508653"/>
                </a:cubicBezTo>
                <a:cubicBezTo>
                  <a:pt x="-17128" y="3313506"/>
                  <a:pt x="58638" y="3137120"/>
                  <a:pt x="0" y="2888791"/>
                </a:cubicBezTo>
                <a:cubicBezTo>
                  <a:pt x="-58638" y="2640462"/>
                  <a:pt x="65927" y="2587725"/>
                  <a:pt x="0" y="2304015"/>
                </a:cubicBezTo>
                <a:cubicBezTo>
                  <a:pt x="-65927" y="2020305"/>
                  <a:pt x="37763" y="1907314"/>
                  <a:pt x="0" y="1754327"/>
                </a:cubicBezTo>
                <a:cubicBezTo>
                  <a:pt x="-37763" y="1601340"/>
                  <a:pt x="8805" y="1433671"/>
                  <a:pt x="0" y="1134464"/>
                </a:cubicBezTo>
                <a:cubicBezTo>
                  <a:pt x="-8805" y="835257"/>
                  <a:pt x="50086" y="669629"/>
                  <a:pt x="0" y="549689"/>
                </a:cubicBezTo>
                <a:cubicBezTo>
                  <a:pt x="-50086" y="429750"/>
                  <a:pt x="46232" y="222977"/>
                  <a:pt x="0" y="0"/>
                </a:cubicBezTo>
                <a:close/>
              </a:path>
            </a:pathLst>
          </a:custGeom>
          <a:ln w="38100">
            <a:extLst>
              <a:ext uri="{C807C97D-BFC1-408E-A445-0C87EB9F89A2}">
                <ask:lineSketchStyleProps xmlns:ask="http://schemas.microsoft.com/office/drawing/2018/sketchyshapes" sd="1219033472">
                  <a:prstGeom prst="actionButtonBlank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scene3d>
            <a:camera prst="obliqueBottomRight"/>
            <a:lightRig rig="threePt" dir="t"/>
          </a:scene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u="sng">
                <a:solidFill>
                  <a:schemeClr val="accent4">
                    <a:lumMod val="75000"/>
                  </a:schemeClr>
                </a:solidFill>
                <a:latin typeface="DM Sans Bold"/>
              </a:rPr>
              <a:t>  </a:t>
            </a:r>
            <a:r>
              <a:rPr lang="fr-FR" sz="2800" b="1" u="sng">
                <a:latin typeface="DM Sans Bold"/>
              </a:rPr>
              <a:t>L'Entreprise</a:t>
            </a:r>
          </a:p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fr-FR" sz="2800">
                <a:latin typeface="DM Sans Bold"/>
              </a:rPr>
              <a:t>Laboratoire </a:t>
            </a:r>
            <a:r>
              <a:rPr lang="fr-FR" sz="2800" b="1">
                <a:latin typeface="DM Sans Bold"/>
              </a:rPr>
              <a:t>Galaxy </a:t>
            </a:r>
            <a:r>
              <a:rPr lang="fr-FR" sz="2800" b="1" err="1">
                <a:latin typeface="DM Sans Bold"/>
              </a:rPr>
              <a:t>Swiss</a:t>
            </a:r>
            <a:r>
              <a:rPr lang="fr-FR" sz="2800" b="1">
                <a:latin typeface="DM Sans Bold"/>
              </a:rPr>
              <a:t> Bourdin (GSB)</a:t>
            </a:r>
            <a:r>
              <a:rPr lang="fr-FR" sz="2800">
                <a:latin typeface="DM Sans Bold"/>
              </a:rPr>
              <a:t> fusion entre </a:t>
            </a:r>
            <a:r>
              <a:rPr lang="fr-FR" sz="2800" b="1">
                <a:latin typeface="DM Sans Bold"/>
              </a:rPr>
              <a:t>Galaxy</a:t>
            </a:r>
            <a:r>
              <a:rPr lang="fr-FR" sz="2800">
                <a:latin typeface="DM Sans Bold"/>
              </a:rPr>
              <a:t>, un géant pharmaceutique américain, et </a:t>
            </a:r>
            <a:r>
              <a:rPr lang="fr-FR" sz="2800" b="1" err="1">
                <a:latin typeface="DM Sans Bold"/>
              </a:rPr>
              <a:t>Swiss</a:t>
            </a:r>
            <a:r>
              <a:rPr lang="fr-FR" sz="2800" b="1">
                <a:latin typeface="DM Sans Bold"/>
              </a:rPr>
              <a:t> Bourdin</a:t>
            </a:r>
            <a:r>
              <a:rPr lang="fr-FR" sz="2800">
                <a:latin typeface="DM Sans Bold"/>
              </a:rPr>
              <a:t>. </a:t>
            </a:r>
          </a:p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fr-FR" sz="2800">
                <a:latin typeface="DM Sans Bold"/>
              </a:rPr>
              <a:t>Permet de créer un leader du secteur pharmaceutique.</a:t>
            </a:r>
          </a:p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fr-FR" sz="2800">
                <a:latin typeface="DM Sans Bold"/>
              </a:rPr>
              <a:t>La France a été choisi pour devenir le pays pilote afin d’améliorer </a:t>
            </a:r>
          </a:p>
          <a:p>
            <a:pPr algn="ctr"/>
            <a:r>
              <a:rPr lang="fr-FR" sz="2800">
                <a:latin typeface="DM Sans Bold"/>
              </a:rPr>
              <a:t>le suivi de l'activité des visiteurs médicaux</a:t>
            </a:r>
            <a:r>
              <a:rPr lang="fr-FR" sz="3200">
                <a:latin typeface="DM Sans Bold"/>
              </a:rPr>
              <a:t>.</a:t>
            </a:r>
          </a:p>
          <a:p>
            <a:pPr algn="ctr"/>
            <a:endParaRPr lang="fr-FR" sz="2800">
              <a:latin typeface="DM Sans Bold" charset="0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FB64FA0-4A84-0878-8075-C404C87BAB7D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02</a:t>
            </a:r>
          </a:p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</a:rPr>
              <a:t>Loïc</a:t>
            </a:r>
            <a:endParaRPr lang="fr-FR" sz="1500" b="1" noProof="0">
              <a:solidFill>
                <a:srgbClr val="343434"/>
              </a:solidFill>
              <a:latin typeface="DM Sans Bold"/>
              <a:ea typeface="DM Sans Bold"/>
              <a:cs typeface="DM Sans Bold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E3C26959-36D2-4AE2-1063-05C063167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08653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521FD79A-36FE-A263-C636-406E9F1FC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A92190E4-6FD9-7DED-DF9C-6BA04FD00CAD}"/>
              </a:ext>
            </a:extLst>
          </p:cNvPr>
          <p:cNvSpPr/>
          <p:nvPr/>
        </p:nvSpPr>
        <p:spPr>
          <a:xfrm rot="885027">
            <a:off x="14418494" y="3322558"/>
            <a:ext cx="3045974" cy="2417377"/>
          </a:xfrm>
          <a:custGeom>
            <a:avLst/>
            <a:gdLst/>
            <a:ahLst/>
            <a:cxnLst/>
            <a:rect l="l" t="t" r="r" b="b"/>
            <a:pathLst>
              <a:path w="2206219" h="1740908">
                <a:moveTo>
                  <a:pt x="0" y="0"/>
                </a:moveTo>
                <a:lnTo>
                  <a:pt x="2206220" y="0"/>
                </a:lnTo>
                <a:lnTo>
                  <a:pt x="2206220" y="1740908"/>
                </a:lnTo>
                <a:lnTo>
                  <a:pt x="0" y="1740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29359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2143B8-4CED-A737-4981-6943CED2F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E72C76-C7CE-05A5-11E8-1AEBD04F4227}"/>
              </a:ext>
            </a:extLst>
          </p:cNvPr>
          <p:cNvSpPr/>
          <p:nvPr/>
        </p:nvSpPr>
        <p:spPr>
          <a:xfrm>
            <a:off x="-967138" y="-5962396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scene3d>
            <a:camera prst="isometricOffAxis1Top"/>
            <a:lightRig rig="threePt" dir="t"/>
          </a:scene3d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FA8A63D-4AFE-8AEE-2728-34F9F147BB34}"/>
              </a:ext>
            </a:extLst>
          </p:cNvPr>
          <p:cNvSpPr/>
          <p:nvPr/>
        </p:nvSpPr>
        <p:spPr>
          <a:xfrm>
            <a:off x="964176" y="446596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976BCD0-386D-B841-CD49-DE4206FBAEA6}"/>
              </a:ext>
            </a:extLst>
          </p:cNvPr>
          <p:cNvSpPr txBox="1"/>
          <p:nvPr/>
        </p:nvSpPr>
        <p:spPr>
          <a:xfrm>
            <a:off x="1838090" y="5326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838B1FC-D98F-15E4-186F-0162ACFBB545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Page 02</a:t>
            </a:r>
          </a:p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  <a:ea typeface="DM Sans Bold"/>
                <a:cs typeface="DM Sans Bold"/>
              </a:rPr>
              <a:t>Loïc</a:t>
            </a:r>
            <a:endParaRPr lang="fr-FR" sz="1500" b="1" noProof="0">
              <a:solidFill>
                <a:srgbClr val="343434"/>
              </a:solidFill>
              <a:latin typeface="DM Sans Bold"/>
              <a:ea typeface="DM Sans Bold"/>
              <a:cs typeface="DM Sans Bold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FDE43FF5-D45D-6B3B-B202-A21288C4A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08653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60800739-0813-2A1D-26E4-5AE9257CA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94CEF732-FBEB-320C-106B-35CB17AC2977}"/>
              </a:ext>
            </a:extLst>
          </p:cNvPr>
          <p:cNvSpPr txBox="1"/>
          <p:nvPr/>
        </p:nvSpPr>
        <p:spPr>
          <a:xfrm>
            <a:off x="5963356" y="2021607"/>
            <a:ext cx="6365010" cy="1092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00"/>
              </a:lnSpc>
            </a:pPr>
            <a:r>
              <a:rPr lang="fr-FR" sz="8000" b="1">
                <a:solidFill>
                  <a:srgbClr val="34343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Hewitt Bold"/>
                <a:ea typeface="Cooper Hewitt Bold"/>
                <a:sym typeface="Cooper Hewitt Bold"/>
              </a:rPr>
              <a:t>Vos besoins : </a:t>
            </a:r>
            <a:endParaRPr lang="fr-FR" sz="8000" b="1">
              <a:solidFill>
                <a:srgbClr val="34343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Hewitt Bold"/>
              <a:ea typeface="Cooper Hewitt Bold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B45D691-0F0B-C081-68AA-7AD399D93F9F}"/>
              </a:ext>
            </a:extLst>
          </p:cNvPr>
          <p:cNvSpPr txBox="1"/>
          <p:nvPr/>
        </p:nvSpPr>
        <p:spPr>
          <a:xfrm>
            <a:off x="5243946" y="4129809"/>
            <a:ext cx="8446654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4000" b="1" err="1"/>
              <a:t>Organisation</a:t>
            </a:r>
            <a:r>
              <a:rPr lang="en-US" sz="4000" b="1"/>
              <a:t> et Segmentation Réseau</a:t>
            </a:r>
            <a:endParaRPr lang="en-US" sz="4000" b="1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endParaRPr lang="en-US" sz="4000" b="1"/>
          </a:p>
          <a:p>
            <a:pPr marL="285750" indent="-285750">
              <a:buFont typeface="Calibri"/>
              <a:buChar char="-"/>
            </a:pPr>
            <a:r>
              <a:rPr lang="en-US" sz="4000" b="1" err="1"/>
              <a:t>Connectivité</a:t>
            </a:r>
            <a:r>
              <a:rPr lang="en-US" sz="4000" b="1"/>
              <a:t> et Equipements</a:t>
            </a:r>
            <a:endParaRPr lang="en-US" sz="4000" b="1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endParaRPr lang="en-US" sz="4000" b="1"/>
          </a:p>
          <a:p>
            <a:pPr marL="285750" indent="-285750">
              <a:buFont typeface="Calibri"/>
              <a:buChar char="-"/>
            </a:pPr>
            <a:r>
              <a:rPr lang="en-US" sz="4000" b="1"/>
              <a:t>Sécurité et Contrôle </a:t>
            </a:r>
            <a:r>
              <a:rPr lang="en-US" sz="4000" b="1" err="1"/>
              <a:t>d'Accès</a:t>
            </a:r>
            <a:endParaRPr lang="en-US" sz="4000" b="1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endParaRPr lang="en-US" sz="3000" b="1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endParaRPr lang="en-US" sz="3000" b="1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endParaRPr lang="en-US" sz="1400" b="1">
              <a:solidFill>
                <a:srgbClr val="FAFAFC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7360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CA217-1699-9571-F27D-91872B6F5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BF99D9-A281-E001-058F-EAB64D64066F}"/>
              </a:ext>
            </a:extLst>
          </p:cNvPr>
          <p:cNvSpPr/>
          <p:nvPr/>
        </p:nvSpPr>
        <p:spPr>
          <a:xfrm>
            <a:off x="-485035" y="-513999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F56C981-052F-FD9F-3E88-CE54843CA2C1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0228BDF-AFBC-FD50-D5C7-A139AAA191DD}"/>
              </a:ext>
            </a:extLst>
          </p:cNvPr>
          <p:cNvSpPr txBox="1"/>
          <p:nvPr/>
        </p:nvSpPr>
        <p:spPr>
          <a:xfrm>
            <a:off x="-4224439" y="-816609"/>
            <a:ext cx="28893247" cy="2931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ea typeface="+mn-lt"/>
                <a:cs typeface="+mn-lt"/>
              </a:rPr>
              <a:t>Organisation du Bâtiment</a:t>
            </a:r>
            <a:endParaRPr lang="fr-F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40366B7-16FF-6F32-ED65-9CD184491128}"/>
              </a:ext>
            </a:extLst>
          </p:cNvPr>
          <p:cNvSpPr/>
          <p:nvPr/>
        </p:nvSpPr>
        <p:spPr>
          <a:xfrm rot="-2220000">
            <a:off x="-245658" y="8357354"/>
            <a:ext cx="1497033" cy="2339114"/>
          </a:xfrm>
          <a:custGeom>
            <a:avLst/>
            <a:gdLst/>
            <a:ahLst/>
            <a:cxnLst/>
            <a:rect l="l" t="t" r="r" b="b"/>
            <a:pathLst>
              <a:path w="1497033" h="2339114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2C181A4-5861-F95D-32D3-27DAD1EA1B7C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A51CDB9-2229-D453-E868-DF3A4B101738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Arthur</a:t>
            </a:r>
            <a:endParaRPr lang="fr-FR"/>
          </a:p>
        </p:txBody>
      </p:sp>
      <p:pic>
        <p:nvPicPr>
          <p:cNvPr id="5" name="Image 4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DE099BBB-6220-F4BD-5A3A-168109F1C5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8516" y="2098544"/>
            <a:ext cx="14075491" cy="743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743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19B026-5B06-16A3-A881-D97FD5128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879BD0-CF65-DCAD-F912-5D39C26DC973}"/>
              </a:ext>
            </a:extLst>
          </p:cNvPr>
          <p:cNvSpPr/>
          <p:nvPr/>
        </p:nvSpPr>
        <p:spPr>
          <a:xfrm>
            <a:off x="-289522" y="-1540153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AFA8BB1-E804-681A-F0DF-E2841DAE0F8F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28A146E-14FE-836F-13C6-0571E1FE773C}"/>
              </a:ext>
            </a:extLst>
          </p:cNvPr>
          <p:cNvSpPr txBox="1"/>
          <p:nvPr/>
        </p:nvSpPr>
        <p:spPr>
          <a:xfrm>
            <a:off x="-6713229" y="748638"/>
            <a:ext cx="28893247" cy="6419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latin typeface="Cooper Hewitt Bold"/>
                <a:ea typeface="Cooper Hewitt Bold"/>
                <a:cs typeface="Calibri"/>
              </a:rPr>
              <a:t> </a:t>
            </a:r>
          </a:p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latin typeface="Cooper Hewitt Bold"/>
                <a:ea typeface="Cooper Hewitt Bold"/>
              </a:rPr>
              <a:t>  </a:t>
            </a:r>
            <a:endParaRPr lang="fr-FR">
              <a:ea typeface="Calibri"/>
              <a:cs typeface="Calibri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C52B2D4-2422-2FF6-C1E9-B4D545FB67D2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31CA801-0CCD-2079-0694-8B08B85492F5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 err="1">
                <a:solidFill>
                  <a:srgbClr val="343434"/>
                </a:solidFill>
                <a:latin typeface="DM Sans Bold"/>
              </a:rPr>
              <a:t>Given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80764B-388D-3CFE-9090-AB57DF3F53D0}"/>
              </a:ext>
            </a:extLst>
          </p:cNvPr>
          <p:cNvSpPr txBox="1"/>
          <p:nvPr/>
        </p:nvSpPr>
        <p:spPr>
          <a:xfrm rot="-10800000" flipV="1">
            <a:off x="3278605" y="1983445"/>
            <a:ext cx="29627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1ADA88-327C-645C-4DB6-E9E32DE057FA}"/>
              </a:ext>
            </a:extLst>
          </p:cNvPr>
          <p:cNvSpPr txBox="1"/>
          <p:nvPr/>
        </p:nvSpPr>
        <p:spPr>
          <a:xfrm>
            <a:off x="5778493" y="1043557"/>
            <a:ext cx="822448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ea typeface="+mn-lt"/>
                <a:cs typeface="+mn-lt"/>
              </a:rPr>
              <a:t>Box Internet : </a:t>
            </a:r>
            <a:r>
              <a:rPr lang="en-US" sz="4800" err="1">
                <a:ea typeface="+mn-lt"/>
                <a:cs typeface="+mn-lt"/>
              </a:rPr>
              <a:t>Freebox</a:t>
            </a:r>
            <a:r>
              <a:rPr lang="en-US" sz="4800">
                <a:ea typeface="+mn-lt"/>
                <a:cs typeface="+mn-lt"/>
              </a:rPr>
              <a:t> Pro</a:t>
            </a:r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CA5142-107D-D1A3-6F78-4042109E46E5}"/>
              </a:ext>
            </a:extLst>
          </p:cNvPr>
          <p:cNvSpPr txBox="1"/>
          <p:nvPr/>
        </p:nvSpPr>
        <p:spPr>
          <a:xfrm>
            <a:off x="8783052" y="1879934"/>
            <a:ext cx="712871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Arial"/>
                <a:cs typeface="Arial"/>
              </a:rPr>
              <a:t> </a:t>
            </a:r>
            <a:endParaRPr lang="en-US" sz="4000"/>
          </a:p>
        </p:txBody>
      </p:sp>
      <p:pic>
        <p:nvPicPr>
          <p:cNvPr id="7" name="Image 6" descr="Une image contenant texte, Appareils électroniques, Appareil électronique, multimédia&#10;&#10;Le contenu généré par l’IA peut être incorrect.">
            <a:extLst>
              <a:ext uri="{FF2B5EF4-FFF2-40B4-BE49-F238E27FC236}">
                <a16:creationId xmlns:a16="http://schemas.microsoft.com/office/drawing/2014/main" id="{935F9284-0D4E-ECDC-2912-D65B9DF40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3427" y="4187681"/>
            <a:ext cx="11261147" cy="278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50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5CE23-35B3-1AA3-4DB4-8B6026D5E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C62E450-36FD-88DB-BBC5-BC076D3B743F}"/>
              </a:ext>
            </a:extLst>
          </p:cNvPr>
          <p:cNvSpPr/>
          <p:nvPr/>
        </p:nvSpPr>
        <p:spPr>
          <a:xfrm>
            <a:off x="-485035" y="-5105359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2B8AC50-7432-9BCD-990C-1724BEEED12D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438FC80-7933-BDF3-A196-CBF21782B4D7}"/>
              </a:ext>
            </a:extLst>
          </p:cNvPr>
          <p:cNvSpPr txBox="1"/>
          <p:nvPr/>
        </p:nvSpPr>
        <p:spPr>
          <a:xfrm>
            <a:off x="-4351439" y="-1232246"/>
            <a:ext cx="28893247" cy="2809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6000" b="1">
                <a:solidFill>
                  <a:srgbClr val="343434"/>
                </a:solidFill>
                <a:ea typeface="+mn-lt"/>
                <a:cs typeface="+mn-lt"/>
              </a:rPr>
              <a:t>Adressage IP et Segmentation VLAN</a:t>
            </a:r>
            <a:endParaRPr lang="fr-FR" sz="6000">
              <a:ea typeface="Calibri"/>
              <a:cs typeface="Calibri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2EBEA47-7B63-33E1-EE8E-2BFE05ED17ED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5C35380-9FF2-14C5-B40B-FFBEF7E5CA9B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Quentin</a:t>
            </a:r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393EDA-5E7A-6600-CC7C-EDA8AD47E3DC}"/>
              </a:ext>
            </a:extLst>
          </p:cNvPr>
          <p:cNvSpPr/>
          <p:nvPr/>
        </p:nvSpPr>
        <p:spPr>
          <a:xfrm>
            <a:off x="1000124" y="1857374"/>
            <a:ext cx="15344775" cy="7629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7661830C-9500-A7A7-56FD-2AE44A252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519460"/>
              </p:ext>
            </p:extLst>
          </p:nvPr>
        </p:nvGraphicFramePr>
        <p:xfrm>
          <a:off x="1212272" y="2031999"/>
          <a:ext cx="14916129" cy="71925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36499">
                  <a:extLst>
                    <a:ext uri="{9D8B030D-6E8A-4147-A177-3AD203B41FA5}">
                      <a16:colId xmlns:a16="http://schemas.microsoft.com/office/drawing/2014/main" val="1379717513"/>
                    </a:ext>
                  </a:extLst>
                </a:gridCol>
                <a:gridCol w="2436499">
                  <a:extLst>
                    <a:ext uri="{9D8B030D-6E8A-4147-A177-3AD203B41FA5}">
                      <a16:colId xmlns:a16="http://schemas.microsoft.com/office/drawing/2014/main" val="535979962"/>
                    </a:ext>
                  </a:extLst>
                </a:gridCol>
                <a:gridCol w="2436499">
                  <a:extLst>
                    <a:ext uri="{9D8B030D-6E8A-4147-A177-3AD203B41FA5}">
                      <a16:colId xmlns:a16="http://schemas.microsoft.com/office/drawing/2014/main" val="904131608"/>
                    </a:ext>
                  </a:extLst>
                </a:gridCol>
                <a:gridCol w="2436499">
                  <a:extLst>
                    <a:ext uri="{9D8B030D-6E8A-4147-A177-3AD203B41FA5}">
                      <a16:colId xmlns:a16="http://schemas.microsoft.com/office/drawing/2014/main" val="3318428896"/>
                    </a:ext>
                  </a:extLst>
                </a:gridCol>
                <a:gridCol w="2436499">
                  <a:extLst>
                    <a:ext uri="{9D8B030D-6E8A-4147-A177-3AD203B41FA5}">
                      <a16:colId xmlns:a16="http://schemas.microsoft.com/office/drawing/2014/main" val="2718880419"/>
                    </a:ext>
                  </a:extLst>
                </a:gridCol>
                <a:gridCol w="2733634">
                  <a:extLst>
                    <a:ext uri="{9D8B030D-6E8A-4147-A177-3AD203B41FA5}">
                      <a16:colId xmlns:a16="http://schemas.microsoft.com/office/drawing/2014/main" val="1081903967"/>
                    </a:ext>
                  </a:extLst>
                </a:gridCol>
              </a:tblGrid>
              <a:tr h="6740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Service(s)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Nombre d’hôtes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Sous-réseau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Masque de sous-réseau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Plage</a:t>
                      </a:r>
                    </a:p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d’adresses IP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485448"/>
                  </a:ext>
                </a:extLst>
              </a:tr>
              <a:tr h="382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Réseau &amp; Système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35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172.16.1.0/26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255.255.255.192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172.16.1.1 - 172.16.1.62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671713"/>
                  </a:ext>
                </a:extLst>
              </a:tr>
              <a:tr h="6376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Direction / DSI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172.16.1.192/27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255.255.255.224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172.16.1.193 - 172.16.1.222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414150"/>
                  </a:ext>
                </a:extLst>
              </a:tr>
              <a:tr h="6376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RH / Compta / Juridique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45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172.16.0.192/26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255.255.255.192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172.16.0.193 - 172.16.0.254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747552"/>
                  </a:ext>
                </a:extLst>
              </a:tr>
              <a:tr h="6376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Communication / Rédaction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172.16.1.160/27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255.255.255.224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172.16.1.161 - 172.16.1.190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074007"/>
                  </a:ext>
                </a:extLst>
              </a:tr>
              <a:tr h="382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Développement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172.16.1.64/27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255.255.255.224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172.16.1.65 - 172.16.1.94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101931"/>
                  </a:ext>
                </a:extLst>
              </a:tr>
              <a:tr h="382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Commercial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172.16.1.96/27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255.255.255.224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172.16.1.97 - 172.16.1.126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131810"/>
                  </a:ext>
                </a:extLst>
              </a:tr>
              <a:tr h="6376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70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Labo-Recherche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172.16.1.128/27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255.255.255.224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172.16.1.129 - 172.16.1.158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630021"/>
                  </a:ext>
                </a:extLst>
              </a:tr>
              <a:tr h="382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80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Cafétéria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172.16.2.0/28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255.255.255.240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172.16.2.1 - 172.16.2.14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072501"/>
                  </a:ext>
                </a:extLst>
              </a:tr>
              <a:tr h="6376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90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Secrétariat Administratif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172.16.0.128/26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255.255.255.192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172.16.0.129 - 172.16.0.190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972864"/>
                  </a:ext>
                </a:extLst>
              </a:tr>
              <a:tr h="382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150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Visiteurs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60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172.16.0.0/26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255.255.255.192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172.16.0.1 - 172.16.0.62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135207"/>
                  </a:ext>
                </a:extLst>
              </a:tr>
              <a:tr h="6376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Démonstration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172.16.1.224/27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255.255.255.224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172.16.1.225 - 172.16.1.254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419637"/>
                  </a:ext>
                </a:extLst>
              </a:tr>
              <a:tr h="382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300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Serveurs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55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172.16.0.64/26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255.255.255.192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172.16.0.65 - 172.16.0.126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089615"/>
                  </a:ext>
                </a:extLst>
              </a:tr>
              <a:tr h="382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400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Sortie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172.16.2.16/30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255.255.255.252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172.16.2.17 - 172.16.2.18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280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6286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7C3AB-0C90-2A72-CCF9-63890C95A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FC9C111-5717-F0DF-311A-58CDBA6A09D5}"/>
              </a:ext>
            </a:extLst>
          </p:cNvPr>
          <p:cNvSpPr/>
          <p:nvPr/>
        </p:nvSpPr>
        <p:spPr>
          <a:xfrm>
            <a:off x="-485035" y="-513999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08CC286-2F90-0D97-F058-1F0DE6A64D10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32861C8-F670-858D-F5D7-603DE11F39A6}"/>
              </a:ext>
            </a:extLst>
          </p:cNvPr>
          <p:cNvSpPr txBox="1"/>
          <p:nvPr/>
        </p:nvSpPr>
        <p:spPr>
          <a:xfrm>
            <a:off x="-4224439" y="-816609"/>
            <a:ext cx="28893247" cy="2931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ea typeface="+mn-lt"/>
                <a:cs typeface="+mn-lt"/>
              </a:rPr>
              <a:t>Organisation du Bâtiment</a:t>
            </a:r>
            <a:endParaRPr lang="fr-F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CB632E9-1CE9-1098-89A1-6B1D42A97CA4}"/>
              </a:ext>
            </a:extLst>
          </p:cNvPr>
          <p:cNvSpPr/>
          <p:nvPr/>
        </p:nvSpPr>
        <p:spPr>
          <a:xfrm rot="-2220000">
            <a:off x="-245658" y="8357354"/>
            <a:ext cx="1497033" cy="2339114"/>
          </a:xfrm>
          <a:custGeom>
            <a:avLst/>
            <a:gdLst/>
            <a:ahLst/>
            <a:cxnLst/>
            <a:rect l="l" t="t" r="r" b="b"/>
            <a:pathLst>
              <a:path w="1497033" h="2339114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E30F2ED-4EEC-EF7F-A776-54A5A8332591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EB8F4F9-8B74-D69B-B7D8-33299DCF9D31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Arthur</a:t>
            </a:r>
            <a:endParaRPr lang="fr-FR"/>
          </a:p>
        </p:txBody>
      </p:sp>
      <p:pic>
        <p:nvPicPr>
          <p:cNvPr id="5" name="Image 4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BD51DB3F-AE96-9885-1522-70E924FAD1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2937" y="2116980"/>
            <a:ext cx="14517944" cy="765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814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1C5A5-8AC8-9AFE-D7B1-FEC7DAE3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FD264A7-09FA-8BA7-351C-FF59B3C932BC}"/>
              </a:ext>
            </a:extLst>
          </p:cNvPr>
          <p:cNvSpPr/>
          <p:nvPr/>
        </p:nvSpPr>
        <p:spPr>
          <a:xfrm>
            <a:off x="-289522" y="-1540153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AAE7D73-259D-CC8E-F6E3-9691DF38F79D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A2CAF7A-F90E-30CF-0CCA-2DF24EE623B2}"/>
              </a:ext>
            </a:extLst>
          </p:cNvPr>
          <p:cNvSpPr txBox="1"/>
          <p:nvPr/>
        </p:nvSpPr>
        <p:spPr>
          <a:xfrm>
            <a:off x="-6713229" y="748638"/>
            <a:ext cx="28893247" cy="6419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latin typeface="Cooper Hewitt Bold"/>
                <a:ea typeface="Cooper Hewitt Bold"/>
                <a:cs typeface="Calibri"/>
              </a:rPr>
              <a:t> </a:t>
            </a:r>
          </a:p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latin typeface="Cooper Hewitt Bold"/>
                <a:ea typeface="Cooper Hewitt Bold"/>
              </a:rPr>
              <a:t>  </a:t>
            </a:r>
            <a:endParaRPr lang="fr-FR">
              <a:ea typeface="Calibri"/>
              <a:cs typeface="Calibri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1E9A7CF-FF21-62A3-2DFC-5DD91096BE56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9ACB505-061E-6498-474E-8499DBFD2B3B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 err="1">
                <a:solidFill>
                  <a:srgbClr val="343434"/>
                </a:solidFill>
                <a:latin typeface="DM Sans Bold"/>
              </a:rPr>
              <a:t>Given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823761-CA42-BADA-4592-F96C1F95C7A7}"/>
              </a:ext>
            </a:extLst>
          </p:cNvPr>
          <p:cNvSpPr txBox="1"/>
          <p:nvPr/>
        </p:nvSpPr>
        <p:spPr>
          <a:xfrm rot="-10800000" flipV="1">
            <a:off x="3278605" y="1983445"/>
            <a:ext cx="29627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6A56BA-6BDD-DC24-CC8A-54CAED1D139E}"/>
              </a:ext>
            </a:extLst>
          </p:cNvPr>
          <p:cNvSpPr txBox="1"/>
          <p:nvPr/>
        </p:nvSpPr>
        <p:spPr>
          <a:xfrm>
            <a:off x="5605311" y="928102"/>
            <a:ext cx="805130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ea typeface="+mn-lt"/>
                <a:cs typeface="+mn-lt"/>
              </a:rPr>
              <a:t>Firewall : </a:t>
            </a:r>
            <a:r>
              <a:rPr lang="en-US" sz="4800">
                <a:ea typeface="+mn-lt"/>
                <a:cs typeface="+mn-lt"/>
              </a:rPr>
              <a:t>Netgate SG-5100</a:t>
            </a:r>
            <a:endParaRPr lang="en-US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F82828-DC0F-9861-01E9-95128F4B409A}"/>
              </a:ext>
            </a:extLst>
          </p:cNvPr>
          <p:cNvSpPr txBox="1"/>
          <p:nvPr/>
        </p:nvSpPr>
        <p:spPr>
          <a:xfrm>
            <a:off x="8783052" y="1879934"/>
            <a:ext cx="712871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Arial"/>
                <a:cs typeface="Arial"/>
              </a:rPr>
              <a:t> </a:t>
            </a:r>
            <a:endParaRPr lang="en-US" sz="4000"/>
          </a:p>
        </p:txBody>
      </p:sp>
      <p:pic>
        <p:nvPicPr>
          <p:cNvPr id="8" name="Image 7" descr="Une image contenant Appareils électroniques&#10;&#10;Le contenu généré par l’IA peut être incorrect.">
            <a:extLst>
              <a:ext uri="{FF2B5EF4-FFF2-40B4-BE49-F238E27FC236}">
                <a16:creationId xmlns:a16="http://schemas.microsoft.com/office/drawing/2014/main" id="{1F3940BD-431A-42D1-793B-F268B99C1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3089" y="-600364"/>
            <a:ext cx="17606817" cy="1254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70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D42C93-15FC-A2B9-3C6A-32049AA6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C409F1D-FA0C-7EFE-3CEE-6697BFD21B67}"/>
              </a:ext>
            </a:extLst>
          </p:cNvPr>
          <p:cNvSpPr/>
          <p:nvPr/>
        </p:nvSpPr>
        <p:spPr>
          <a:xfrm>
            <a:off x="-485035" y="-513999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77C5A7F-952E-22CF-67E6-A26662807DF7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248648E-93B1-C5B2-063B-BC60368D34CD}"/>
              </a:ext>
            </a:extLst>
          </p:cNvPr>
          <p:cNvSpPr txBox="1"/>
          <p:nvPr/>
        </p:nvSpPr>
        <p:spPr>
          <a:xfrm>
            <a:off x="-4224439" y="-816609"/>
            <a:ext cx="28893247" cy="2931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ea typeface="+mn-lt"/>
                <a:cs typeface="+mn-lt"/>
              </a:rPr>
              <a:t>Organisation du Bâtiment</a:t>
            </a:r>
            <a:endParaRPr lang="fr-F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6BDDB97-3154-D9E8-9E32-D13DC8340F51}"/>
              </a:ext>
            </a:extLst>
          </p:cNvPr>
          <p:cNvSpPr/>
          <p:nvPr/>
        </p:nvSpPr>
        <p:spPr>
          <a:xfrm rot="-2220000">
            <a:off x="-245658" y="8357354"/>
            <a:ext cx="1497033" cy="2339114"/>
          </a:xfrm>
          <a:custGeom>
            <a:avLst/>
            <a:gdLst/>
            <a:ahLst/>
            <a:cxnLst/>
            <a:rect l="l" t="t" r="r" b="b"/>
            <a:pathLst>
              <a:path w="1497033" h="2339114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A684F58-1161-6BFB-E2FC-D68B87CABE32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35995A6-7D57-C050-4C35-D1BF94846C52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Arthur</a:t>
            </a:r>
            <a:endParaRPr lang="fr-FR"/>
          </a:p>
        </p:txBody>
      </p:sp>
      <p:pic>
        <p:nvPicPr>
          <p:cNvPr id="9" name="Image 8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89F4D09D-14C9-B76C-1A09-CE86E796A1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9194" y="2116980"/>
            <a:ext cx="14416549" cy="764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46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D6CE4-9BF2-D39A-8582-41ED5C8C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5C3625-4C45-960B-BBC5-DDDD1F283078}"/>
              </a:ext>
            </a:extLst>
          </p:cNvPr>
          <p:cNvSpPr/>
          <p:nvPr/>
        </p:nvSpPr>
        <p:spPr>
          <a:xfrm>
            <a:off x="-289522" y="-1540153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CFECA8F-C133-FDA2-54AA-DCE04C22AA94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637CA25-749D-BD02-4E31-FBCCB2185574}"/>
              </a:ext>
            </a:extLst>
          </p:cNvPr>
          <p:cNvSpPr txBox="1"/>
          <p:nvPr/>
        </p:nvSpPr>
        <p:spPr>
          <a:xfrm>
            <a:off x="-6713229" y="748638"/>
            <a:ext cx="28893247" cy="6419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latin typeface="Cooper Hewitt Bold"/>
                <a:ea typeface="Cooper Hewitt Bold"/>
                <a:cs typeface="Calibri"/>
              </a:rPr>
              <a:t> </a:t>
            </a:r>
          </a:p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latin typeface="Cooper Hewitt Bold"/>
                <a:ea typeface="Cooper Hewitt Bold"/>
              </a:rPr>
              <a:t>  </a:t>
            </a:r>
            <a:endParaRPr lang="fr-FR">
              <a:ea typeface="Calibri"/>
              <a:cs typeface="Calibri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E8DCB4A-44BC-35A9-7B4F-844819A34A0F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DAB29B8-6EF3-D87D-E80A-737F551BEB3E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 err="1">
                <a:solidFill>
                  <a:srgbClr val="343434"/>
                </a:solidFill>
                <a:latin typeface="DM Sans Bold"/>
              </a:rPr>
              <a:t>Given</a:t>
            </a:r>
          </a:p>
        </p:txBody>
      </p:sp>
      <p:pic>
        <p:nvPicPr>
          <p:cNvPr id="5" name="Picture 4" descr="&#10;Ubiquiti USW-16-POE Networks UniFi 16-Port PoE Géré L2/L3 Gigabit Ethernet  (10/100/1000) Connexion Ethernet, supportant l'alimentation via ce port ...">
            <a:extLst>
              <a:ext uri="{FF2B5EF4-FFF2-40B4-BE49-F238E27FC236}">
                <a16:creationId xmlns:a16="http://schemas.microsoft.com/office/drawing/2014/main" id="{08A83E21-A2DF-2001-3A3E-B7AC1D7178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7940" y="4896975"/>
            <a:ext cx="7401960" cy="5157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1198B4-06C9-0039-A1BD-F23A3928705E}"/>
              </a:ext>
            </a:extLst>
          </p:cNvPr>
          <p:cNvSpPr txBox="1"/>
          <p:nvPr/>
        </p:nvSpPr>
        <p:spPr>
          <a:xfrm rot="10800000" flipV="1">
            <a:off x="11005134" y="7127450"/>
            <a:ext cx="540161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Ubiquiti UniFi Switch Enterprise XG 16 POE</a:t>
            </a:r>
            <a:endParaRPr lang="en-US" sz="2800"/>
          </a:p>
        </p:txBody>
      </p:sp>
      <p:pic>
        <p:nvPicPr>
          <p:cNvPr id="9" name="Picture 8" descr="Ubiquiti USW-Pro-48-POE Networks UniFi Pro 48-Port PoE Géré L2/L3 Gigabit  Ethernet (10/100/1000) Connexion Ethernet, supportant l'alimentation via ce  ...">
            <a:extLst>
              <a:ext uri="{FF2B5EF4-FFF2-40B4-BE49-F238E27FC236}">
                <a16:creationId xmlns:a16="http://schemas.microsoft.com/office/drawing/2014/main" id="{EC0032B8-53B3-AD98-7746-C5069E738C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4884" y="241621"/>
            <a:ext cx="7760368" cy="62714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DB4CD8-8A78-6228-5086-178FA2828A98}"/>
              </a:ext>
            </a:extLst>
          </p:cNvPr>
          <p:cNvSpPr txBox="1"/>
          <p:nvPr/>
        </p:nvSpPr>
        <p:spPr>
          <a:xfrm>
            <a:off x="10872475" y="2995134"/>
            <a:ext cx="538413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Arial"/>
                <a:cs typeface="Arial"/>
              </a:rPr>
              <a:t> Ubiquiti UniFi Switch Pro 48 POE </a:t>
            </a:r>
            <a:endParaRPr lang="en-US"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5E01B7-3546-6FBA-6598-8C411E1BDD75}"/>
              </a:ext>
            </a:extLst>
          </p:cNvPr>
          <p:cNvSpPr txBox="1"/>
          <p:nvPr/>
        </p:nvSpPr>
        <p:spPr>
          <a:xfrm>
            <a:off x="4922159" y="6218443"/>
            <a:ext cx="264694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Switch L3</a:t>
            </a:r>
            <a:endParaRPr lang="en-US" sz="3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11B2BE-8424-7014-4DD9-FBAFD56E008C}"/>
              </a:ext>
            </a:extLst>
          </p:cNvPr>
          <p:cNvSpPr txBox="1"/>
          <p:nvPr/>
        </p:nvSpPr>
        <p:spPr>
          <a:xfrm rot="10800000" flipV="1">
            <a:off x="5137423" y="1994990"/>
            <a:ext cx="29627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Switch L2 </a:t>
            </a: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A1F6FFBF-85F5-488E-3EB7-3A9D1C8C92A7}"/>
              </a:ext>
            </a:extLst>
          </p:cNvPr>
          <p:cNvSpPr txBox="1"/>
          <p:nvPr/>
        </p:nvSpPr>
        <p:spPr>
          <a:xfrm>
            <a:off x="-4224439" y="-551064"/>
            <a:ext cx="28893247" cy="28773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en-US" sz="8000" b="1">
                <a:solidFill>
                  <a:srgbClr val="000000"/>
                </a:solidFill>
                <a:ea typeface="+mn-lt"/>
                <a:cs typeface="+mn-lt"/>
              </a:rPr>
              <a:t>Switch </a:t>
            </a:r>
            <a:endParaRPr lang="fr-FR" sz="80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4908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6DC56-3D6D-2184-4EE0-EFF31D069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E1B374-CA86-A1DE-B86F-E69C1B5C8068}"/>
              </a:ext>
            </a:extLst>
          </p:cNvPr>
          <p:cNvSpPr/>
          <p:nvPr/>
        </p:nvSpPr>
        <p:spPr>
          <a:xfrm>
            <a:off x="-485035" y="-513999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C25DBE0-4A71-F1ED-E228-5101FE456D43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86F9DE3-E815-2C92-F487-ACE1954D2517}"/>
              </a:ext>
            </a:extLst>
          </p:cNvPr>
          <p:cNvSpPr txBox="1"/>
          <p:nvPr/>
        </p:nvSpPr>
        <p:spPr>
          <a:xfrm>
            <a:off x="-4224439" y="-551064"/>
            <a:ext cx="28893247" cy="2843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7000" b="1">
                <a:solidFill>
                  <a:srgbClr val="343434"/>
                </a:solidFill>
                <a:ea typeface="+mn-lt"/>
                <a:cs typeface="+mn-lt"/>
              </a:rPr>
              <a:t>Répartition des Ports des </a:t>
            </a:r>
            <a:r>
              <a:rPr lang="fr-FR" sz="7000" b="1" err="1">
                <a:solidFill>
                  <a:srgbClr val="343434"/>
                </a:solidFill>
                <a:ea typeface="+mn-lt"/>
                <a:cs typeface="+mn-lt"/>
              </a:rPr>
              <a:t>Switchs</a:t>
            </a:r>
            <a:endParaRPr lang="fr-FR" sz="7000">
              <a:ea typeface="Calibri"/>
              <a:cs typeface="Calibri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2EBE6BB-23CA-0EA2-4D9B-80E8329CCBFB}"/>
              </a:ext>
            </a:extLst>
          </p:cNvPr>
          <p:cNvSpPr/>
          <p:nvPr/>
        </p:nvSpPr>
        <p:spPr>
          <a:xfrm rot="-2220000">
            <a:off x="-245658" y="8357354"/>
            <a:ext cx="1497033" cy="2339114"/>
          </a:xfrm>
          <a:custGeom>
            <a:avLst/>
            <a:gdLst/>
            <a:ahLst/>
            <a:cxnLst/>
            <a:rect l="l" t="t" r="r" b="b"/>
            <a:pathLst>
              <a:path w="1497033" h="2339114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B343059-DCD1-B3A7-847C-CFB403692205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7AF7373-5FD5-87EA-DECA-6E2F95E4D756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Quentin</a:t>
            </a:r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A91A16-76C2-218D-1E2A-84BFF2369601}"/>
              </a:ext>
            </a:extLst>
          </p:cNvPr>
          <p:cNvSpPr/>
          <p:nvPr/>
        </p:nvSpPr>
        <p:spPr>
          <a:xfrm>
            <a:off x="2401297" y="3473284"/>
            <a:ext cx="13694647" cy="46317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B23CB63C-2731-21B1-F1A7-E01DAC97A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01424"/>
              </p:ext>
            </p:extLst>
          </p:nvPr>
        </p:nvGraphicFramePr>
        <p:xfrm>
          <a:off x="2747818" y="3856181"/>
          <a:ext cx="13109384" cy="38294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38673">
                  <a:extLst>
                    <a:ext uri="{9D8B030D-6E8A-4147-A177-3AD203B41FA5}">
                      <a16:colId xmlns:a16="http://schemas.microsoft.com/office/drawing/2014/main" val="57402159"/>
                    </a:ext>
                  </a:extLst>
                </a:gridCol>
                <a:gridCol w="1638673">
                  <a:extLst>
                    <a:ext uri="{9D8B030D-6E8A-4147-A177-3AD203B41FA5}">
                      <a16:colId xmlns:a16="http://schemas.microsoft.com/office/drawing/2014/main" val="1016813786"/>
                    </a:ext>
                  </a:extLst>
                </a:gridCol>
                <a:gridCol w="1638673">
                  <a:extLst>
                    <a:ext uri="{9D8B030D-6E8A-4147-A177-3AD203B41FA5}">
                      <a16:colId xmlns:a16="http://schemas.microsoft.com/office/drawing/2014/main" val="2718084589"/>
                    </a:ext>
                  </a:extLst>
                </a:gridCol>
                <a:gridCol w="1638673">
                  <a:extLst>
                    <a:ext uri="{9D8B030D-6E8A-4147-A177-3AD203B41FA5}">
                      <a16:colId xmlns:a16="http://schemas.microsoft.com/office/drawing/2014/main" val="3845857959"/>
                    </a:ext>
                  </a:extLst>
                </a:gridCol>
                <a:gridCol w="1638673">
                  <a:extLst>
                    <a:ext uri="{9D8B030D-6E8A-4147-A177-3AD203B41FA5}">
                      <a16:colId xmlns:a16="http://schemas.microsoft.com/office/drawing/2014/main" val="685763575"/>
                    </a:ext>
                  </a:extLst>
                </a:gridCol>
                <a:gridCol w="1638673">
                  <a:extLst>
                    <a:ext uri="{9D8B030D-6E8A-4147-A177-3AD203B41FA5}">
                      <a16:colId xmlns:a16="http://schemas.microsoft.com/office/drawing/2014/main" val="2234592826"/>
                    </a:ext>
                  </a:extLst>
                </a:gridCol>
                <a:gridCol w="1638673">
                  <a:extLst>
                    <a:ext uri="{9D8B030D-6E8A-4147-A177-3AD203B41FA5}">
                      <a16:colId xmlns:a16="http://schemas.microsoft.com/office/drawing/2014/main" val="1866983313"/>
                    </a:ext>
                  </a:extLst>
                </a:gridCol>
                <a:gridCol w="1638673">
                  <a:extLst>
                    <a:ext uri="{9D8B030D-6E8A-4147-A177-3AD203B41FA5}">
                      <a16:colId xmlns:a16="http://schemas.microsoft.com/office/drawing/2014/main" val="256686008"/>
                    </a:ext>
                  </a:extLst>
                </a:gridCol>
              </a:tblGrid>
              <a:tr h="398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Étage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Ports Disponibles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Ports Utilisés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Ports Restants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VLANs Présents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878575"/>
                  </a:ext>
                </a:extLst>
              </a:tr>
              <a:tr h="398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RDC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37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200 (15)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80 (10)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150 (11)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499670"/>
                  </a:ext>
                </a:extLst>
              </a:tr>
              <a:tr h="398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Étage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47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40 (20)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90 (25)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150 (1)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259440"/>
                  </a:ext>
                </a:extLst>
              </a:tr>
              <a:tr h="398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Étage 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96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87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50 (30)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60 (25)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90 (25)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150 (6)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913996"/>
                  </a:ext>
                </a:extLst>
              </a:tr>
              <a:tr h="398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Étage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32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70 (25)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 VLAN 150 (6)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685540"/>
                  </a:ext>
                </a:extLst>
              </a:tr>
              <a:tr h="398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Étage 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72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59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30 (23)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 VLAN 10 (35)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 VLAN 150 (1)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718461"/>
                  </a:ext>
                </a:extLst>
              </a:tr>
              <a:tr h="398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Étage 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48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20 (15)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 VLAN 30 (22)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150 (6)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112359"/>
                  </a:ext>
                </a:extLst>
              </a:tr>
              <a:tr h="398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Étage 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24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300 (2)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 VLAN 150 (1)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679047"/>
                  </a:ext>
                </a:extLst>
              </a:tr>
              <a:tr h="398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SW L3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16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VLAN 400 (1)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>
                          <a:effectLst/>
                        </a:rPr>
                        <a:t>autre switch (7)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419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610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8AA46-8FF0-861E-9BD9-6718290FF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754589-D499-852C-F967-AA5AC0FEA51D}"/>
              </a:ext>
            </a:extLst>
          </p:cNvPr>
          <p:cNvSpPr/>
          <p:nvPr/>
        </p:nvSpPr>
        <p:spPr>
          <a:xfrm>
            <a:off x="-485035" y="-513999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83F4F87-FB14-D710-6F1C-00AC587CC544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420E84-F797-4394-AD23-C684FADD4A22}"/>
              </a:ext>
            </a:extLst>
          </p:cNvPr>
          <p:cNvSpPr txBox="1"/>
          <p:nvPr/>
        </p:nvSpPr>
        <p:spPr>
          <a:xfrm>
            <a:off x="-4224439" y="-816609"/>
            <a:ext cx="28893247" cy="2931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ea typeface="+mn-lt"/>
                <a:cs typeface="+mn-lt"/>
              </a:rPr>
              <a:t>Organisation du Bâtiment</a:t>
            </a:r>
            <a:endParaRPr lang="fr-F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0DF766-92C1-D684-944B-78AA0AF576D3}"/>
              </a:ext>
            </a:extLst>
          </p:cNvPr>
          <p:cNvSpPr/>
          <p:nvPr/>
        </p:nvSpPr>
        <p:spPr>
          <a:xfrm rot="-2220000">
            <a:off x="-245658" y="8357354"/>
            <a:ext cx="1497033" cy="2339114"/>
          </a:xfrm>
          <a:custGeom>
            <a:avLst/>
            <a:gdLst/>
            <a:ahLst/>
            <a:cxnLst/>
            <a:rect l="l" t="t" r="r" b="b"/>
            <a:pathLst>
              <a:path w="1497033" h="2339114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FDAA68E-6F9E-A6BC-B0B3-1751D4C38D76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3175EEF-3C72-7878-BAF3-6AEAD61B6727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Arthur</a:t>
            </a:r>
            <a:endParaRPr lang="fr-FR"/>
          </a:p>
        </p:txBody>
      </p:sp>
      <p:pic>
        <p:nvPicPr>
          <p:cNvPr id="7" name="Image 6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7BB0FE5C-9CEE-EDEC-049A-BF6819DFCC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2322" y="2116980"/>
            <a:ext cx="14628557" cy="776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635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33DCF-97C9-78F0-A65B-9C41B7DA4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CEA965-D81A-2BAB-2392-4237D80AE67E}"/>
              </a:ext>
            </a:extLst>
          </p:cNvPr>
          <p:cNvSpPr/>
          <p:nvPr/>
        </p:nvSpPr>
        <p:spPr>
          <a:xfrm>
            <a:off x="-344606" y="-1843118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endParaRPr lang="en-US" noProof="0">
              <a:ea typeface="Calibri"/>
              <a:cs typeface="Calibri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6C77D8A-FC53-5239-B033-353413658379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AEBCBF2-381C-6408-30F8-57F7257C8022}"/>
              </a:ext>
            </a:extLst>
          </p:cNvPr>
          <p:cNvSpPr txBox="1"/>
          <p:nvPr/>
        </p:nvSpPr>
        <p:spPr>
          <a:xfrm>
            <a:off x="-6713229" y="748638"/>
            <a:ext cx="28893247" cy="6419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latin typeface="Cooper Hewitt Bold"/>
                <a:ea typeface="Cooper Hewitt Bold"/>
                <a:cs typeface="Calibri"/>
              </a:rPr>
              <a:t> </a:t>
            </a:r>
          </a:p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latin typeface="Cooper Hewitt Bold"/>
                <a:ea typeface="Cooper Hewitt Bold"/>
              </a:rPr>
              <a:t>  </a:t>
            </a:r>
            <a:endParaRPr lang="fr-FR">
              <a:ea typeface="Calibri"/>
              <a:cs typeface="Calibri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E7D459A-BE0B-3233-3301-EB9BEA468E36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2DFE5DC-F465-64B0-70F2-5D4806D4C156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 err="1">
                <a:solidFill>
                  <a:srgbClr val="343434"/>
                </a:solidFill>
                <a:latin typeface="DM Sans Bold"/>
              </a:rPr>
              <a:t>Given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804288-11AB-24CF-127F-FCB8CE5E65F9}"/>
              </a:ext>
            </a:extLst>
          </p:cNvPr>
          <p:cNvSpPr txBox="1"/>
          <p:nvPr/>
        </p:nvSpPr>
        <p:spPr>
          <a:xfrm rot="-10800000" flipV="1">
            <a:off x="3278605" y="1983445"/>
            <a:ext cx="29627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C1C6D3-4093-70DE-DF9B-C4F50F5190F9}"/>
              </a:ext>
            </a:extLst>
          </p:cNvPr>
          <p:cNvSpPr txBox="1"/>
          <p:nvPr/>
        </p:nvSpPr>
        <p:spPr>
          <a:xfrm>
            <a:off x="8783052" y="1879934"/>
            <a:ext cx="712871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Arial"/>
                <a:cs typeface="Arial"/>
              </a:rPr>
              <a:t> </a:t>
            </a:r>
            <a:endParaRPr lang="en-US" sz="4000"/>
          </a:p>
        </p:txBody>
      </p:sp>
      <p:pic>
        <p:nvPicPr>
          <p:cNvPr id="5" name="Picture 4" descr="Schneider Electric NSYVDA42U66B Armoire baie de brassage 19&quot; (l x H x P)  600 x 2000 x 600 mm 42 UH gris clair, gris fonc - Conrad Electronic France">
            <a:extLst>
              <a:ext uri="{FF2B5EF4-FFF2-40B4-BE49-F238E27FC236}">
                <a16:creationId xmlns:a16="http://schemas.microsoft.com/office/drawing/2014/main" id="{77596CA3-AA7C-3442-216C-E9270D08C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3367" y="2992985"/>
            <a:ext cx="6040915" cy="65229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ED5FFB-3D2E-F2D2-A93F-2CAC53471AD5}"/>
              </a:ext>
            </a:extLst>
          </p:cNvPr>
          <p:cNvSpPr txBox="1"/>
          <p:nvPr/>
        </p:nvSpPr>
        <p:spPr>
          <a:xfrm>
            <a:off x="2661986" y="1383631"/>
            <a:ext cx="485775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ea typeface="+mn-lt"/>
                <a:cs typeface="+mn-lt"/>
              </a:rPr>
              <a:t>Schneider Electric</a:t>
            </a:r>
          </a:p>
          <a:p>
            <a:r>
              <a:rPr lang="en-US" sz="3600">
                <a:ea typeface="+mn-lt"/>
                <a:cs typeface="+mn-lt"/>
              </a:rPr>
              <a:t>Baie de brassage 42U</a:t>
            </a:r>
          </a:p>
          <a:p>
            <a:endParaRPr lang="en-US" sz="3600">
              <a:ea typeface="Calibri"/>
              <a:cs typeface="Calibri"/>
            </a:endParaRPr>
          </a:p>
        </p:txBody>
      </p:sp>
      <p:pic>
        <p:nvPicPr>
          <p:cNvPr id="7" name="Picture 6" descr="Panneau de brassage droit 19pouces 1U LCS³ catégorie 6 équipé de 24  connecteurs RJ45 STP">
            <a:extLst>
              <a:ext uri="{FF2B5EF4-FFF2-40B4-BE49-F238E27FC236}">
                <a16:creationId xmlns:a16="http://schemas.microsoft.com/office/drawing/2014/main" id="{147BF582-0792-BEE1-EEDA-611C828A9C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4825" y="3208664"/>
            <a:ext cx="6871770" cy="6678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B99542-B057-C73D-6C3B-443BE1ED5CEC}"/>
              </a:ext>
            </a:extLst>
          </p:cNvPr>
          <p:cNvSpPr txBox="1"/>
          <p:nvPr/>
        </p:nvSpPr>
        <p:spPr>
          <a:xfrm>
            <a:off x="8777978" y="1629516"/>
            <a:ext cx="826645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latin typeface="Arial"/>
                <a:cs typeface="Arial"/>
              </a:rPr>
              <a:t>Panneaux de brassage Legrand 24 ports CAT6A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356416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AC182-2E87-86B2-99B1-ABA39DD1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AE97631-F5D2-EBFD-B1B7-F712510AD97E}"/>
              </a:ext>
            </a:extLst>
          </p:cNvPr>
          <p:cNvSpPr/>
          <p:nvPr/>
        </p:nvSpPr>
        <p:spPr>
          <a:xfrm>
            <a:off x="-485035" y="-513999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CC2633A-4F15-735C-BC23-5A9648EE3530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74CE68D-B886-C97F-7654-223D9C64F2AB}"/>
              </a:ext>
            </a:extLst>
          </p:cNvPr>
          <p:cNvSpPr txBox="1"/>
          <p:nvPr/>
        </p:nvSpPr>
        <p:spPr>
          <a:xfrm>
            <a:off x="-4224439" y="-551064"/>
            <a:ext cx="28893247" cy="2931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ea typeface="+mn-lt"/>
                <a:cs typeface="+mn-lt"/>
              </a:rPr>
              <a:t>Organisation du Bâtiment</a:t>
            </a:r>
            <a:endParaRPr lang="fr-F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56572F5-8FD7-A1DE-579E-6AAB656B6DC2}"/>
              </a:ext>
            </a:extLst>
          </p:cNvPr>
          <p:cNvSpPr/>
          <p:nvPr/>
        </p:nvSpPr>
        <p:spPr>
          <a:xfrm rot="-2220000">
            <a:off x="-245658" y="8357354"/>
            <a:ext cx="1497033" cy="2339114"/>
          </a:xfrm>
          <a:custGeom>
            <a:avLst/>
            <a:gdLst/>
            <a:ahLst/>
            <a:cxnLst/>
            <a:rect l="l" t="t" r="r" b="b"/>
            <a:pathLst>
              <a:path w="1497033" h="2339114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BFD81CC-163F-16A9-0CD6-A3F9BF444806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D677244-3E99-A1FD-BE52-D7C43915907B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Arthur</a:t>
            </a:r>
            <a:endParaRPr lang="fr-FR"/>
          </a:p>
        </p:txBody>
      </p:sp>
      <p:pic>
        <p:nvPicPr>
          <p:cNvPr id="7" name="Image 6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77469B6A-A99F-BD11-A28F-F8AFC18130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6678" y="2236810"/>
            <a:ext cx="14213759" cy="749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44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C9F49-1E41-6BB3-10A7-862B5772B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20398A-3E11-A99D-75EF-3D1D57A91C79}"/>
              </a:ext>
            </a:extLst>
          </p:cNvPr>
          <p:cNvSpPr/>
          <p:nvPr/>
        </p:nvSpPr>
        <p:spPr>
          <a:xfrm>
            <a:off x="-162522" y="-1724880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3CDE72-F3E3-6143-4851-4E21ADBB46A4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494CE62-2EC8-BFB8-CE67-1FA75D9D825F}"/>
              </a:ext>
            </a:extLst>
          </p:cNvPr>
          <p:cNvSpPr txBox="1"/>
          <p:nvPr/>
        </p:nvSpPr>
        <p:spPr>
          <a:xfrm>
            <a:off x="-6713229" y="748638"/>
            <a:ext cx="28893247" cy="6419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latin typeface="Cooper Hewitt Bold"/>
                <a:ea typeface="Cooper Hewitt Bold"/>
                <a:cs typeface="Calibri"/>
              </a:rPr>
              <a:t> </a:t>
            </a:r>
          </a:p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latin typeface="Cooper Hewitt Bold"/>
                <a:ea typeface="Cooper Hewitt Bold"/>
              </a:rPr>
              <a:t>  </a:t>
            </a:r>
            <a:endParaRPr lang="fr-FR">
              <a:ea typeface="Calibri"/>
              <a:cs typeface="Calibri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0C47894-EEB0-3652-A0F8-F3CE14A41130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E881D44-1A44-350C-05EE-05FAE6A4A266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 err="1">
                <a:solidFill>
                  <a:srgbClr val="343434"/>
                </a:solidFill>
                <a:latin typeface="DM Sans Bold"/>
              </a:rPr>
              <a:t>Given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2000D9-63D6-B82E-4C83-31935FB2C7C0}"/>
              </a:ext>
            </a:extLst>
          </p:cNvPr>
          <p:cNvSpPr txBox="1"/>
          <p:nvPr/>
        </p:nvSpPr>
        <p:spPr>
          <a:xfrm rot="-10800000" flipV="1">
            <a:off x="3278605" y="1983445"/>
            <a:ext cx="29627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 </a:t>
            </a:r>
          </a:p>
        </p:txBody>
      </p:sp>
      <p:pic>
        <p:nvPicPr>
          <p:cNvPr id="8" name="Picture 7" descr="Ubiquiti Point d'accès UAP-AC-HD : Amazon.fr: Informatique">
            <a:extLst>
              <a:ext uri="{FF2B5EF4-FFF2-40B4-BE49-F238E27FC236}">
                <a16:creationId xmlns:a16="http://schemas.microsoft.com/office/drawing/2014/main" id="{B0A132EC-85A6-2979-67D4-9476B163CA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1009" y="2276993"/>
            <a:ext cx="6953077" cy="67025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D1956A0-442C-6DD2-04DB-B678ECA70156}"/>
              </a:ext>
            </a:extLst>
          </p:cNvPr>
          <p:cNvSpPr txBox="1"/>
          <p:nvPr/>
        </p:nvSpPr>
        <p:spPr>
          <a:xfrm>
            <a:off x="4919122" y="994732"/>
            <a:ext cx="104579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Arial"/>
                <a:ea typeface="Calibri"/>
                <a:cs typeface="Arial"/>
              </a:rPr>
              <a:t>Points </a:t>
            </a:r>
            <a:r>
              <a:rPr lang="en-US" sz="4000" b="1" err="1">
                <a:latin typeface="Arial"/>
                <a:ea typeface="Calibri"/>
                <a:cs typeface="Arial"/>
              </a:rPr>
              <a:t>d’accès</a:t>
            </a:r>
            <a:r>
              <a:rPr lang="en-US" sz="4000" b="1">
                <a:latin typeface="Arial"/>
                <a:ea typeface="Calibri"/>
                <a:cs typeface="Arial"/>
              </a:rPr>
              <a:t> </a:t>
            </a:r>
            <a:r>
              <a:rPr lang="en-US" sz="4000" b="1">
                <a:latin typeface="Calibri"/>
                <a:ea typeface="Calibri"/>
                <a:cs typeface="Calibri"/>
              </a:rPr>
              <a:t>Ubiquiti </a:t>
            </a:r>
            <a:r>
              <a:rPr lang="en-US" sz="4000" b="1" err="1">
                <a:ea typeface="+mn-lt"/>
                <a:cs typeface="+mn-lt"/>
              </a:rPr>
              <a:t>UniFzi</a:t>
            </a:r>
            <a:r>
              <a:rPr lang="en-US" sz="4000" b="1">
                <a:ea typeface="+mn-lt"/>
                <a:cs typeface="+mn-lt"/>
              </a:rPr>
              <a:t> 6 Lite</a:t>
            </a:r>
            <a:r>
              <a:rPr lang="en-US" sz="4000" b="1">
                <a:latin typeface="Arial"/>
                <a:ea typeface="+mn-lt"/>
                <a:cs typeface="Arial"/>
              </a:rPr>
              <a:t> </a:t>
            </a:r>
            <a:r>
              <a:rPr lang="en-US" sz="1200" b="1">
                <a:solidFill>
                  <a:srgbClr val="FAFAFC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FAFAFC"/>
                </a:solidFill>
                <a:ea typeface="+mn-lt"/>
                <a:cs typeface="+mn-lt"/>
              </a:rPr>
              <a:t>Litequiti</a:t>
            </a:r>
            <a:r>
              <a:rPr lang="en-US" sz="1200" b="1">
                <a:solidFill>
                  <a:srgbClr val="FAFAFC"/>
                </a:solidFill>
                <a:ea typeface="+mn-lt"/>
                <a:cs typeface="+mn-lt"/>
              </a:rPr>
              <a:t> UniFi 6 Lite</a:t>
            </a:r>
            <a:endParaRPr lang="en-US" sz="40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7525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D4644-960E-494A-3B11-4EA11B4F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42B363-517C-5CD0-9948-B8F3A90CF9DC}"/>
              </a:ext>
            </a:extLst>
          </p:cNvPr>
          <p:cNvSpPr/>
          <p:nvPr/>
        </p:nvSpPr>
        <p:spPr>
          <a:xfrm>
            <a:off x="-485035" y="-5324722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6A7007C-463D-CE20-2E74-17E215BCD8E8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C00AB96-830D-06BE-21D8-5FE4EE8DFE08}"/>
              </a:ext>
            </a:extLst>
          </p:cNvPr>
          <p:cNvSpPr txBox="1"/>
          <p:nvPr/>
        </p:nvSpPr>
        <p:spPr>
          <a:xfrm>
            <a:off x="-4224439" y="-816609"/>
            <a:ext cx="28893247" cy="2931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ea typeface="+mn-lt"/>
                <a:cs typeface="+mn-lt"/>
              </a:rPr>
              <a:t>Organisation du Bâtiment</a:t>
            </a:r>
            <a:endParaRPr lang="fr-FR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2C18EFA-B455-FAA3-C519-F4829CE258F3}"/>
              </a:ext>
            </a:extLst>
          </p:cNvPr>
          <p:cNvSpPr/>
          <p:nvPr/>
        </p:nvSpPr>
        <p:spPr>
          <a:xfrm rot="-2220000">
            <a:off x="-245658" y="8357354"/>
            <a:ext cx="1497033" cy="2339114"/>
          </a:xfrm>
          <a:custGeom>
            <a:avLst/>
            <a:gdLst/>
            <a:ahLst/>
            <a:cxnLst/>
            <a:rect l="l" t="t" r="r" b="b"/>
            <a:pathLst>
              <a:path w="1497033" h="2339114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A8B4D1C-919E-5AC5-0079-0361D3E89026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A19048E-9900-DCD7-B99B-CC2931524E86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Arthur</a:t>
            </a:r>
            <a:endParaRPr lang="fr-FR"/>
          </a:p>
        </p:txBody>
      </p:sp>
      <p:pic>
        <p:nvPicPr>
          <p:cNvPr id="7" name="Image 6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5041BAF5-91F7-1958-59C2-E1B33CEE7B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7395" y="2116980"/>
            <a:ext cx="14305936" cy="759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201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7B7E4-0E90-C456-2625-C311AFB5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880CD5E-D1C5-BFF0-79D1-F9D18E590096}"/>
              </a:ext>
            </a:extLst>
          </p:cNvPr>
          <p:cNvSpPr/>
          <p:nvPr/>
        </p:nvSpPr>
        <p:spPr>
          <a:xfrm>
            <a:off x="-289522" y="-1540153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F46900D-EAD8-4FDE-C128-9E712F59C0DC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3A1704-F951-2F90-725D-8FDEB756950D}"/>
              </a:ext>
            </a:extLst>
          </p:cNvPr>
          <p:cNvSpPr txBox="1"/>
          <p:nvPr/>
        </p:nvSpPr>
        <p:spPr>
          <a:xfrm>
            <a:off x="-6713229" y="748638"/>
            <a:ext cx="28893247" cy="6419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latin typeface="Cooper Hewitt Bold"/>
                <a:ea typeface="Cooper Hewitt Bold"/>
                <a:cs typeface="Calibri"/>
              </a:rPr>
              <a:t> </a:t>
            </a:r>
          </a:p>
          <a:p>
            <a:pPr algn="ctr">
              <a:lnSpc>
                <a:spcPts val="27108"/>
              </a:lnSpc>
            </a:pPr>
            <a:r>
              <a:rPr lang="fr-FR" sz="9600" b="1">
                <a:solidFill>
                  <a:srgbClr val="343434"/>
                </a:solidFill>
                <a:latin typeface="Cooper Hewitt Bold"/>
                <a:ea typeface="Cooper Hewitt Bold"/>
              </a:rPr>
              <a:t>  </a:t>
            </a:r>
            <a:endParaRPr lang="fr-FR">
              <a:ea typeface="Calibri"/>
              <a:cs typeface="Calibri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4C7FFB4-8C70-BC28-0CB5-1051651918D1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33ACF42-D795-C653-9923-9FD9E05D8402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 err="1">
                <a:solidFill>
                  <a:srgbClr val="343434"/>
                </a:solidFill>
                <a:latin typeface="DM Sans Bold"/>
              </a:rPr>
              <a:t>Given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1E5B9D-2D7E-3BD6-E0E6-43A85F85D2BA}"/>
              </a:ext>
            </a:extLst>
          </p:cNvPr>
          <p:cNvSpPr txBox="1"/>
          <p:nvPr/>
        </p:nvSpPr>
        <p:spPr>
          <a:xfrm rot="-10800000" flipV="1">
            <a:off x="3278605" y="1983445"/>
            <a:ext cx="296277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 </a:t>
            </a:r>
          </a:p>
        </p:txBody>
      </p:sp>
      <p:pic>
        <p:nvPicPr>
          <p:cNvPr id="16" name="Picture 15" descr="Serveur DELL Poweredge R740xd | Garantie de 5 ans ✔️">
            <a:extLst>
              <a:ext uri="{FF2B5EF4-FFF2-40B4-BE49-F238E27FC236}">
                <a16:creationId xmlns:a16="http://schemas.microsoft.com/office/drawing/2014/main" id="{EC430F92-D7E2-8F6B-629F-3FAA44D3D0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923" y="3550319"/>
            <a:ext cx="7200672" cy="54463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DA8E32A-EECB-4EFA-97DB-B9E55E1FE1E9}"/>
              </a:ext>
            </a:extLst>
          </p:cNvPr>
          <p:cNvSpPr txBox="1"/>
          <p:nvPr/>
        </p:nvSpPr>
        <p:spPr>
          <a:xfrm>
            <a:off x="6243052" y="1279570"/>
            <a:ext cx="712871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latin typeface="Arial"/>
                <a:cs typeface="Arial"/>
              </a:rPr>
              <a:t> Dell PowerEdge R740xd 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3060050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55088-83C9-B24A-7FC2-9971A89B2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F495F9-D726-C2C2-18A8-DD68D09548D1}"/>
              </a:ext>
            </a:extLst>
          </p:cNvPr>
          <p:cNvSpPr/>
          <p:nvPr/>
        </p:nvSpPr>
        <p:spPr>
          <a:xfrm>
            <a:off x="-485035" y="-5139995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2ECB683-2796-2E78-E263-BB8918349659}"/>
              </a:ext>
            </a:extLst>
          </p:cNvPr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B1F6243-CA7E-6791-7084-8A47BDDDFD59}"/>
              </a:ext>
            </a:extLst>
          </p:cNvPr>
          <p:cNvSpPr txBox="1"/>
          <p:nvPr/>
        </p:nvSpPr>
        <p:spPr>
          <a:xfrm>
            <a:off x="-218166" y="3085754"/>
            <a:ext cx="18721702" cy="2809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6000" b="1">
                <a:solidFill>
                  <a:srgbClr val="343434"/>
                </a:solidFill>
                <a:ea typeface="+mn-lt"/>
                <a:cs typeface="+mn-lt"/>
              </a:rPr>
              <a:t>Partie Cisco : Simulation et Validation avec </a:t>
            </a:r>
            <a:r>
              <a:rPr lang="fr-FR" sz="6000" b="1" err="1">
                <a:solidFill>
                  <a:srgbClr val="343434"/>
                </a:solidFill>
                <a:ea typeface="+mn-lt"/>
                <a:cs typeface="+mn-lt"/>
              </a:rPr>
              <a:t>Packet</a:t>
            </a:r>
            <a:r>
              <a:rPr lang="fr-FR" sz="6000" b="1">
                <a:solidFill>
                  <a:srgbClr val="343434"/>
                </a:solidFill>
                <a:ea typeface="+mn-lt"/>
                <a:cs typeface="+mn-lt"/>
              </a:rPr>
              <a:t> Tracer</a:t>
            </a:r>
            <a:endParaRPr lang="fr-FR" sz="6000">
              <a:ea typeface="Calibri"/>
              <a:cs typeface="Calibri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3F7E995-B162-9468-F771-7425496768DE}"/>
              </a:ext>
            </a:extLst>
          </p:cNvPr>
          <p:cNvSpPr/>
          <p:nvPr/>
        </p:nvSpPr>
        <p:spPr>
          <a:xfrm rot="-2220000">
            <a:off x="-245658" y="8357354"/>
            <a:ext cx="1497033" cy="2339114"/>
          </a:xfrm>
          <a:custGeom>
            <a:avLst/>
            <a:gdLst/>
            <a:ahLst/>
            <a:cxnLst/>
            <a:rect l="l" t="t" r="r" b="b"/>
            <a:pathLst>
              <a:path w="1497033" h="2339114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C21BF0A-77FC-CE60-1689-C48C76954195}"/>
              </a:ext>
            </a:extLst>
          </p:cNvPr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9BE98D0-D8FD-1702-2A43-63781B6AEB68}"/>
              </a:ext>
            </a:extLst>
          </p:cNvPr>
          <p:cNvSpPr txBox="1"/>
          <p:nvPr/>
        </p:nvSpPr>
        <p:spPr>
          <a:xfrm>
            <a:off x="16253563" y="8991600"/>
            <a:ext cx="1005737" cy="52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Page 07</a:t>
            </a:r>
            <a:endParaRPr lang="fr-FR"/>
          </a:p>
          <a:p>
            <a:pPr algn="r">
              <a:lnSpc>
                <a:spcPts val="2100"/>
              </a:lnSpc>
            </a:pPr>
            <a:r>
              <a:rPr lang="fr-FR" sz="1500" b="1">
                <a:solidFill>
                  <a:srgbClr val="343434"/>
                </a:solidFill>
                <a:latin typeface="DM Sans Bold"/>
              </a:rPr>
              <a:t>Loïc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7236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5035" y="-4940402"/>
            <a:ext cx="19258069" cy="19258069"/>
          </a:xfrm>
          <a:custGeom>
            <a:avLst/>
            <a:gdLst/>
            <a:ahLst/>
            <a:cxnLst/>
            <a:rect l="l" t="t" r="r" b="b"/>
            <a:pathLst>
              <a:path w="19258069" h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3" name="Freeform 3"/>
          <p:cNvSpPr/>
          <p:nvPr/>
        </p:nvSpPr>
        <p:spPr>
          <a:xfrm>
            <a:off x="1055075" y="1028700"/>
            <a:ext cx="604457" cy="608886"/>
          </a:xfrm>
          <a:custGeom>
            <a:avLst/>
            <a:gdLst/>
            <a:ahLst/>
            <a:cxnLst/>
            <a:rect l="l" t="t" r="r" b="b"/>
            <a:pathLst>
              <a:path w="604457" h="608886">
                <a:moveTo>
                  <a:pt x="0" y="0"/>
                </a:moveTo>
                <a:lnTo>
                  <a:pt x="604457" y="0"/>
                </a:lnTo>
                <a:lnTo>
                  <a:pt x="604457" y="608886"/>
                </a:lnTo>
                <a:lnTo>
                  <a:pt x="0" y="608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noProof="0"/>
          </a:p>
        </p:txBody>
      </p:sp>
      <p:sp>
        <p:nvSpPr>
          <p:cNvPr id="4" name="TextBox 4"/>
          <p:cNvSpPr txBox="1"/>
          <p:nvPr/>
        </p:nvSpPr>
        <p:spPr>
          <a:xfrm>
            <a:off x="1050616" y="2569406"/>
            <a:ext cx="16420035" cy="3293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08"/>
              </a:lnSpc>
            </a:pPr>
            <a:r>
              <a:rPr lang="fr-FR" sz="19350" b="1">
                <a:solidFill>
                  <a:srgbClr val="343434"/>
                </a:solidFill>
                <a:latin typeface="Cooper Hewitt Bold"/>
                <a:ea typeface="Cooper Hewitt Bold"/>
                <a:sym typeface="Cooper Hewitt Bold"/>
              </a:rPr>
              <a:t>Merci </a:t>
            </a:r>
            <a:endParaRPr lang="fr-FR" sz="19350" b="1">
              <a:solidFill>
                <a:srgbClr val="343434"/>
              </a:solidFill>
              <a:latin typeface="Cooper Hewitt Bold"/>
              <a:ea typeface="Cooper Hewitt Bold"/>
            </a:endParaRPr>
          </a:p>
        </p:txBody>
      </p:sp>
      <p:sp>
        <p:nvSpPr>
          <p:cNvPr id="8" name="Freeform 8"/>
          <p:cNvSpPr/>
          <p:nvPr/>
        </p:nvSpPr>
        <p:spPr>
          <a:xfrm rot="20245554">
            <a:off x="14864854" y="1213414"/>
            <a:ext cx="2255145" cy="2968930"/>
          </a:xfrm>
          <a:custGeom>
            <a:avLst/>
            <a:gdLst/>
            <a:ahLst/>
            <a:cxnLst/>
            <a:rect l="l" t="t" r="r" b="b"/>
            <a:pathLst>
              <a:path w="1497033" h="2339114">
                <a:moveTo>
                  <a:pt x="0" y="0"/>
                </a:moveTo>
                <a:lnTo>
                  <a:pt x="1497033" y="0"/>
                </a:lnTo>
                <a:lnTo>
                  <a:pt x="1497033" y="2339115"/>
                </a:lnTo>
                <a:lnTo>
                  <a:pt x="0" y="23391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/>
          </a:p>
        </p:txBody>
      </p:sp>
      <p:sp>
        <p:nvSpPr>
          <p:cNvPr id="9" name="Freeform 9"/>
          <p:cNvSpPr/>
          <p:nvPr/>
        </p:nvSpPr>
        <p:spPr>
          <a:xfrm rot="885027">
            <a:off x="1799312" y="2098740"/>
            <a:ext cx="3045974" cy="2417377"/>
          </a:xfrm>
          <a:custGeom>
            <a:avLst/>
            <a:gdLst/>
            <a:ahLst/>
            <a:cxnLst/>
            <a:rect l="l" t="t" r="r" b="b"/>
            <a:pathLst>
              <a:path w="2206219" h="1740908">
                <a:moveTo>
                  <a:pt x="0" y="0"/>
                </a:moveTo>
                <a:lnTo>
                  <a:pt x="2206220" y="0"/>
                </a:lnTo>
                <a:lnTo>
                  <a:pt x="2206220" y="1740908"/>
                </a:lnTo>
                <a:lnTo>
                  <a:pt x="0" y="17409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0" name="Freeform 10"/>
          <p:cNvSpPr/>
          <p:nvPr/>
        </p:nvSpPr>
        <p:spPr>
          <a:xfrm>
            <a:off x="634830" y="7050745"/>
            <a:ext cx="3472469" cy="2929456"/>
          </a:xfrm>
          <a:custGeom>
            <a:avLst/>
            <a:gdLst/>
            <a:ahLst/>
            <a:cxnLst/>
            <a:rect l="l" t="t" r="r" b="b"/>
            <a:pathLst>
              <a:path w="4202073" h="2521244">
                <a:moveTo>
                  <a:pt x="0" y="0"/>
                </a:moveTo>
                <a:lnTo>
                  <a:pt x="4202074" y="0"/>
                </a:lnTo>
                <a:lnTo>
                  <a:pt x="4202074" y="2521245"/>
                </a:lnTo>
                <a:lnTo>
                  <a:pt x="0" y="25212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1" name="Freeform 11"/>
          <p:cNvSpPr/>
          <p:nvPr/>
        </p:nvSpPr>
        <p:spPr>
          <a:xfrm rot="839221">
            <a:off x="14888985" y="6367664"/>
            <a:ext cx="2056788" cy="2847056"/>
          </a:xfrm>
          <a:custGeom>
            <a:avLst/>
            <a:gdLst/>
            <a:ahLst/>
            <a:cxnLst/>
            <a:rect l="l" t="t" r="r" b="b"/>
            <a:pathLst>
              <a:path w="1170380" h="2030628">
                <a:moveTo>
                  <a:pt x="0" y="0"/>
                </a:moveTo>
                <a:lnTo>
                  <a:pt x="1170381" y="0"/>
                </a:lnTo>
                <a:lnTo>
                  <a:pt x="1170381" y="2030628"/>
                </a:lnTo>
                <a:lnTo>
                  <a:pt x="0" y="20306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 noProof="0"/>
          </a:p>
        </p:txBody>
      </p:sp>
      <p:sp>
        <p:nvSpPr>
          <p:cNvPr id="12" name="TextBox 12"/>
          <p:cNvSpPr txBox="1"/>
          <p:nvPr/>
        </p:nvSpPr>
        <p:spPr>
          <a:xfrm>
            <a:off x="1806339" y="1111346"/>
            <a:ext cx="1160704" cy="47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fr-FR" sz="1804" b="1" spc="-110" noProof="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STUDIO IPSSI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02598" y="5916427"/>
            <a:ext cx="12284069" cy="475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290"/>
              </a:lnSpc>
              <a:spcBef>
                <a:spcPct val="0"/>
              </a:spcBef>
            </a:pPr>
            <a:r>
              <a:rPr lang="fr-FR" sz="4400" b="1">
                <a:solidFill>
                  <a:srgbClr val="343434"/>
                </a:solidFill>
                <a:latin typeface="DM Sans"/>
                <a:sym typeface="DM Sans"/>
              </a:rPr>
              <a:t> Quentin – </a:t>
            </a:r>
            <a:r>
              <a:rPr lang="fr-FR" sz="4400" b="1" err="1">
                <a:solidFill>
                  <a:srgbClr val="343434"/>
                </a:solidFill>
                <a:latin typeface="DM Sans"/>
                <a:sym typeface="DM Sans"/>
              </a:rPr>
              <a:t>Loic</a:t>
            </a:r>
            <a:r>
              <a:rPr lang="fr-FR" sz="4400" b="1">
                <a:solidFill>
                  <a:srgbClr val="343434"/>
                </a:solidFill>
                <a:latin typeface="DM Sans"/>
                <a:sym typeface="DM Sans"/>
              </a:rPr>
              <a:t> – </a:t>
            </a:r>
            <a:r>
              <a:rPr lang="fr-FR" sz="4400" b="1" err="1">
                <a:solidFill>
                  <a:srgbClr val="343434"/>
                </a:solidFill>
                <a:latin typeface="DM Sans"/>
                <a:sym typeface="DM Sans"/>
              </a:rPr>
              <a:t>Given</a:t>
            </a:r>
            <a:r>
              <a:rPr lang="fr-FR" sz="4400" b="1">
                <a:solidFill>
                  <a:srgbClr val="343434"/>
                </a:solidFill>
                <a:latin typeface="DM Sans"/>
                <a:sym typeface="DM Sans"/>
              </a:rPr>
              <a:t> – Arthur  </a:t>
            </a:r>
            <a:endParaRPr lang="fr-FR" sz="4400" b="1"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Personnalisé</PresentationFormat>
  <Slides>19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0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33</cp:revision>
  <dcterms:created xsi:type="dcterms:W3CDTF">2006-08-16T00:00:00Z</dcterms:created>
  <dcterms:modified xsi:type="dcterms:W3CDTF">2025-04-15T07:03:08Z</dcterms:modified>
  <dc:identifier>DAGdg8-_kd8</dc:identifier>
</cp:coreProperties>
</file>